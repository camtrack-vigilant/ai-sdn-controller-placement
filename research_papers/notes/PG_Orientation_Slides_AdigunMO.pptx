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7" autoAdjust="0"/>
    <p:restoredTop sz="82759" autoAdjust="0"/>
  </p:normalViewPr>
  <p:slideViewPr>
    <p:cSldViewPr snapToGrid="0" snapToObjects="1">
      <p:cViewPr varScale="1">
        <p:scale>
          <a:sx n="41" d="100"/>
          <a:sy n="41" d="100"/>
        </p:scale>
        <p:origin x="1254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4083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“systematic”: you can explain what you did, why, and how you checked it.
Explain “generalisable”: beyond this one laptop / dataset / anecdote.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Emphasise: don’t argue about labels; focus on expectations in your programme.
Encourage students to ask: What is assessed? What is the minimum acceptable? What earns distinction?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Remind: if part-time, scale but keep the *ratio*.
Key: reading/writing are not optional “extras”; they are steering mechanisms.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examples: improve accuracy, improve fairness, reduce compute, improve usability.
Emphasise: evaluation and baselines turn software into research.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replication studies are valuable when done rigorously.
Tie to “generalizable knowledge”.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Stress: supervisors can only help with what they can see.
Encourage a living document: roadmap + decisions + open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concrete example: start with 1 dataset, 1 baseline, 1 metric.
Explain “decision log”: when you change scope, record why.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 simple weekly cadence: Mon plan, Wed evidence, Fri write-up.
Stress: supervisors want small frequent updates.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how to read: title/abstract/figures first, then method.
Encourage a matrix: papers × (task, data, metric, result, limitation).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common issues: leakage, cherry-picking, not fixing seeds.
Encourage students to write evaluation plan 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Normalise asking for feedback. Remind students to be respectful of supervisor time.
Mention peer groups: writing circles, lab meetings.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non-legalistic. Encourage students to ask supervisors about departmental rules.
Emphasise: AI can help brainstorming, but cannot replace evidence or citations.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write answers now if time.
Encourage “evidence-first” mindset.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Q&amp;A.
Optional: show examples of past successful RQs (anonymised).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 to be a Postgraduate Student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Honours vs Master’s • </a:t>
            </a:r>
            <a:r>
              <a:rPr lang="en-US" sz="2000" dirty="0">
                <a:solidFill>
                  <a:srgbClr val="374151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Research in Computer Science </a:t>
            </a:r>
            <a:r>
              <a:rPr lang="en-US" sz="2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Planning for success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2423160"/>
            <a:ext cx="11064240" cy="8229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777240" y="26060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student → researcher: expectations, milestones, and survival habits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 Orientation Programme</a:t>
            </a:r>
            <a:endParaRPr 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CE4206-BC8E-7574-FA12-453A8C2A804E}"/>
              </a:ext>
            </a:extLst>
          </p:cNvPr>
          <p:cNvSpPr txBox="1"/>
          <p:nvPr/>
        </p:nvSpPr>
        <p:spPr>
          <a:xfrm>
            <a:off x="548640" y="4017555"/>
            <a:ext cx="111506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/>
              <a:t>Purpose</a:t>
            </a:r>
            <a:r>
              <a:rPr lang="en-GB" sz="2400" dirty="0"/>
              <a:t>: </a:t>
            </a:r>
            <a:r>
              <a:rPr lang="en-GB" sz="2400" dirty="0">
                <a:solidFill>
                  <a:srgbClr val="FF0000"/>
                </a:solidFill>
              </a:rPr>
              <a:t>set realistic expectations</a:t>
            </a:r>
            <a:r>
              <a:rPr lang="en-GB" sz="2400" dirty="0"/>
              <a:t> for Honours and Master’s students in CS/IS.</a:t>
            </a:r>
          </a:p>
          <a:p>
            <a:r>
              <a:rPr lang="en-GB" sz="2400" dirty="0"/>
              <a:t>Key message: postgraduate success is about a </a:t>
            </a:r>
            <a:r>
              <a:rPr lang="en-GB" sz="2400" dirty="0">
                <a:solidFill>
                  <a:srgbClr val="FF0000"/>
                </a:solidFill>
              </a:rPr>
              <a:t>repeatable research process </a:t>
            </a:r>
            <a:r>
              <a:rPr lang="en-GB" sz="2400" dirty="0"/>
              <a:t>+ healthy working habits, not “genius”.</a:t>
            </a:r>
          </a:p>
          <a:p>
            <a:endParaRPr lang="en-GB" sz="2400" dirty="0"/>
          </a:p>
          <a:p>
            <a:endParaRPr lang="en-GB" sz="2400" dirty="0"/>
          </a:p>
          <a:p>
            <a:r>
              <a:rPr lang="en-GB" sz="2400" dirty="0"/>
              <a:t>ADIGUN MO, PhD</a:t>
            </a:r>
          </a:p>
          <a:p>
            <a:r>
              <a:rPr lang="en-GB" sz="2400" dirty="0"/>
              <a:t>Department of Computer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outcomes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end, you should be able to explain what “independent research” looks like and plan your year</a:t>
            </a:r>
            <a:r>
              <a:rPr lang="en-US" sz="2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19760" y="2377440"/>
            <a:ext cx="111760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04800" indent="-304800">
              <a:lnSpc>
                <a:spcPct val="110000"/>
              </a:lnSpc>
              <a:buSzPct val="100000"/>
              <a:buChar char="•"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</a:t>
            </a:r>
            <a:r>
              <a:rPr lang="en-US" sz="3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Honours vs Master’s: expectations, workload, and milestones</a:t>
            </a:r>
            <a:endParaRPr lang="en-US" sz="3200" dirty="0"/>
          </a:p>
          <a:p>
            <a:pPr marL="304800" indent="-304800">
              <a:lnSpc>
                <a:spcPct val="110000"/>
              </a:lnSpc>
              <a:buSzPct val="100000"/>
              <a:buChar char="•"/>
            </a:pPr>
            <a:r>
              <a:rPr lang="en-US" sz="3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</a:t>
            </a: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in CS</a:t>
            </a:r>
            <a:r>
              <a:rPr lang="en-US" sz="3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evidence, evaluation, and contribution</a:t>
            </a:r>
            <a:endParaRPr lang="en-US" sz="3200" dirty="0"/>
          </a:p>
          <a:p>
            <a:pPr marL="304800" indent="-304800">
              <a:lnSpc>
                <a:spcPct val="110000"/>
              </a:lnSpc>
              <a:buSzPct val="100000"/>
              <a:buChar char="•"/>
            </a:pPr>
            <a:r>
              <a:rPr lang="en-US" sz="3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 idea into a research question (</a:t>
            </a: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</a:t>
            </a:r>
            <a:r>
              <a:rPr lang="en-US" sz="3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and a concrete </a:t>
            </a: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</a:t>
            </a:r>
            <a:endParaRPr lang="en-US" sz="3200" b="1" dirty="0"/>
          </a:p>
          <a:p>
            <a:pPr marL="304800" indent="-304800">
              <a:lnSpc>
                <a:spcPct val="110000"/>
              </a:lnSpc>
              <a:buSzPct val="100000"/>
              <a:buChar char="•"/>
            </a:pPr>
            <a:r>
              <a:rPr lang="en-US" sz="3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a </a:t>
            </a: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research plan </a:t>
            </a:r>
            <a:r>
              <a:rPr lang="en-US" sz="3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(milestones, risks, outputs)</a:t>
            </a:r>
            <a:endParaRPr lang="en-US" sz="3200" dirty="0"/>
          </a:p>
          <a:p>
            <a:pPr marL="304800" indent="-304800">
              <a:lnSpc>
                <a:spcPct val="110000"/>
              </a:lnSpc>
              <a:buSzPct val="100000"/>
              <a:buChar char="•"/>
            </a:pPr>
            <a:r>
              <a:rPr lang="en-US" sz="3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 </a:t>
            </a:r>
            <a:r>
              <a:rPr lang="en-US" sz="3200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failure modes</a:t>
            </a:r>
            <a:r>
              <a:rPr lang="en-US" sz="3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—and how to avoid them</a:t>
            </a:r>
            <a:endParaRPr 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MINDSET SHIFT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consumer to producer of knowledge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Undergrad: master known answers. Postgrad: defend your choices under uncertainty.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10972800" cy="39796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04800" indent="-304800">
              <a:lnSpc>
                <a:spcPct val="110000"/>
              </a:lnSpc>
              <a:buSzPct val="100000"/>
              <a:buChar char="•"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are responsible for defining </a:t>
            </a: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</a:t>
            </a: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(scope), not just solving it</a:t>
            </a:r>
            <a:endParaRPr lang="en-US" sz="2400" dirty="0"/>
          </a:p>
          <a:p>
            <a:pPr marL="304800" indent="-304800">
              <a:lnSpc>
                <a:spcPct val="110000"/>
              </a:lnSpc>
              <a:buSzPct val="100000"/>
              <a:buChar char="•"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judged by </a:t>
            </a:r>
            <a:r>
              <a:rPr lang="en-US" sz="2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data, experiments, and argumentation</a:t>
            </a:r>
            <a:endParaRPr lang="en-US" sz="2400" dirty="0"/>
          </a:p>
          <a:p>
            <a:pPr marL="304800" indent="-304800">
              <a:lnSpc>
                <a:spcPct val="110000"/>
              </a:lnSpc>
              <a:buSzPct val="100000"/>
              <a:buChar char="•"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Independence</a:t>
            </a: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≠ isolation: </a:t>
            </a:r>
            <a:r>
              <a:rPr lang="en-US" sz="2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</a:t>
            </a: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collaboration, not outsourcing</a:t>
            </a:r>
            <a:endParaRPr lang="en-US" sz="2400" dirty="0"/>
          </a:p>
          <a:p>
            <a:pPr marL="304800" indent="-30480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is not “after coding” — it is how you think and steer the project</a:t>
            </a:r>
          </a:p>
          <a:p>
            <a:pPr marL="304800" indent="-304800">
              <a:lnSpc>
                <a:spcPct val="110000"/>
              </a:lnSpc>
              <a:buSzPct val="100000"/>
              <a:buChar char="•"/>
            </a:pPr>
            <a:endParaRPr lang="en-US" sz="24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04800" indent="-304800">
              <a:lnSpc>
                <a:spcPct val="110000"/>
              </a:lnSpc>
              <a:buSzPct val="100000"/>
              <a:buFontTx/>
              <a:buChar char="•"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useful definition of research: </a:t>
            </a:r>
            <a:r>
              <a:rPr lang="en-US" sz="24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systematic investigation designed to develop or contribute to generalizable knowledge </a:t>
            </a:r>
            <a:r>
              <a:rPr lang="en-US" sz="2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(e.g., via experiments, analysis, or evaluation). </a:t>
            </a:r>
            <a:r>
              <a:rPr lang="en-US" sz="2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r>
              <a:rPr lang="en-US" sz="2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question + </a:t>
            </a:r>
            <a:r>
              <a:rPr lang="en-US" sz="2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r>
              <a:rPr lang="en-US" sz="2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n-US" sz="2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r>
              <a:rPr lang="en-US" sz="2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n-US" sz="2400" dirty="0">
                <a:solidFill>
                  <a:srgbClr val="6B7280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r>
              <a:rPr lang="en-US" sz="2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400" dirty="0"/>
          </a:p>
          <a:p>
            <a:pPr marL="304800" indent="-304800">
              <a:lnSpc>
                <a:spcPct val="110000"/>
              </a:lnSpc>
              <a:buSzPct val="100000"/>
              <a:buFontTx/>
              <a:buChar char="•"/>
            </a:pPr>
            <a:endParaRPr lang="en-US" sz="2400" dirty="0"/>
          </a:p>
          <a:p>
            <a:pPr marL="304800" indent="-304800">
              <a:lnSpc>
                <a:spcPct val="110000"/>
              </a:lnSpc>
              <a:buSzPct val="100000"/>
              <a:buFontTx/>
              <a:buChar char="•"/>
            </a:pPr>
            <a:endParaRPr lang="en-US" sz="2400" dirty="0"/>
          </a:p>
          <a:p>
            <a:pPr marL="304800" indent="-304800">
              <a:lnSpc>
                <a:spcPct val="110000"/>
              </a:lnSpc>
              <a:buSzPct val="100000"/>
              <a:buChar char="•"/>
            </a:pP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97280" y="589788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6263640"/>
            <a:ext cx="1042416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Honours vs Master’s: the big picture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hard. The difference is depth and originality.</a:t>
            </a:r>
            <a:endParaRPr lang="en-US" sz="2000" b="1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2194560" cy="566928"/>
          </a:xfrm>
          <a:prstGeom prst="rect">
            <a:avLst/>
          </a:prstGeom>
          <a:solidFill>
            <a:srgbClr val="111827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868680" y="23774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4572000" cy="566928"/>
          </a:xfrm>
          <a:prstGeom prst="rect">
            <a:avLst/>
          </a:prstGeom>
          <a:solidFill>
            <a:srgbClr val="111827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" name="Text 7"/>
          <p:cNvSpPr/>
          <p:nvPr/>
        </p:nvSpPr>
        <p:spPr>
          <a:xfrm>
            <a:off x="3063240" y="237744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Honours (typical)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98080" y="2286000"/>
            <a:ext cx="4572000" cy="566928"/>
          </a:xfrm>
          <a:prstGeom prst="rect">
            <a:avLst/>
          </a:prstGeom>
          <a:solidFill>
            <a:srgbClr val="111827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/>
          <p:nvPr/>
        </p:nvSpPr>
        <p:spPr>
          <a:xfrm>
            <a:off x="7635240" y="237744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Master’s (typical)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2852928"/>
            <a:ext cx="2194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868680" y="294436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926080" y="2852928"/>
            <a:ext cx="45720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Text 13"/>
          <p:cNvSpPr/>
          <p:nvPr/>
        </p:nvSpPr>
        <p:spPr>
          <a:xfrm>
            <a:off x="3063240" y="2944368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Specialise + learn research basics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498080" y="2852928"/>
            <a:ext cx="45720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7" name="Text 15"/>
          <p:cNvSpPr/>
          <p:nvPr/>
        </p:nvSpPr>
        <p:spPr>
          <a:xfrm>
            <a:off x="7635240" y="2944368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expertise + original research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1520" y="3419856"/>
            <a:ext cx="2194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Text 17"/>
          <p:cNvSpPr/>
          <p:nvPr/>
        </p:nvSpPr>
        <p:spPr>
          <a:xfrm>
            <a:off x="868680" y="351129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output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926080" y="3419856"/>
            <a:ext cx="45720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1" name="Text 19"/>
          <p:cNvSpPr/>
          <p:nvPr/>
        </p:nvSpPr>
        <p:spPr>
          <a:xfrm>
            <a:off x="3063240" y="3511296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report / mini-dissertation + demo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498080" y="3419856"/>
            <a:ext cx="45720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3" name="Text 21"/>
          <p:cNvSpPr/>
          <p:nvPr/>
        </p:nvSpPr>
        <p:spPr>
          <a:xfrm>
            <a:off x="7635240" y="3511296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Dissertation / thesis (often with publishable results)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31520" y="3986784"/>
            <a:ext cx="2194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5" name="Text 23"/>
          <p:cNvSpPr/>
          <p:nvPr/>
        </p:nvSpPr>
        <p:spPr>
          <a:xfrm>
            <a:off x="868680" y="4078224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Independence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926080" y="3986784"/>
            <a:ext cx="45720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7" name="Text 25"/>
          <p:cNvSpPr/>
          <p:nvPr/>
        </p:nvSpPr>
        <p:spPr>
          <a:xfrm>
            <a:off x="3063240" y="4078224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independence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498080" y="3986784"/>
            <a:ext cx="45720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9" name="Text 27"/>
          <p:cNvSpPr/>
          <p:nvPr/>
        </p:nvSpPr>
        <p:spPr>
          <a:xfrm>
            <a:off x="7635240" y="4078224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independence + self-direction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31520" y="4553712"/>
            <a:ext cx="2194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1" name="Text 29"/>
          <p:cNvSpPr/>
          <p:nvPr/>
        </p:nvSpPr>
        <p:spPr>
          <a:xfrm>
            <a:off x="868680" y="464515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2926080" y="4553712"/>
            <a:ext cx="45720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3" name="Text 31"/>
          <p:cNvSpPr/>
          <p:nvPr/>
        </p:nvSpPr>
        <p:spPr>
          <a:xfrm>
            <a:off x="3063240" y="4645152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Narrow, bounded project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498080" y="4553712"/>
            <a:ext cx="45720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5" name="Text 33"/>
          <p:cNvSpPr/>
          <p:nvPr/>
        </p:nvSpPr>
        <p:spPr>
          <a:xfrm>
            <a:off x="7635240" y="4645152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Broader, deeper, multi-phase study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31520" y="2286000"/>
            <a:ext cx="11338560" cy="2834640"/>
          </a:xfrm>
          <a:prstGeom prst="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7" name="Shape 35"/>
          <p:cNvSpPr/>
          <p:nvPr/>
        </p:nvSpPr>
        <p:spPr>
          <a:xfrm>
            <a:off x="868680" y="6858000"/>
            <a:ext cx="11155680" cy="1005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8" name="Text 36"/>
          <p:cNvSpPr/>
          <p:nvPr/>
        </p:nvSpPr>
        <p:spPr>
          <a:xfrm>
            <a:off x="1097280" y="5266944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097280" y="5486400"/>
            <a:ext cx="106070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0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Honours shows you </a:t>
            </a:r>
            <a:r>
              <a:rPr lang="en-US" sz="2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*do* research</a:t>
            </a:r>
            <a:r>
              <a:rPr lang="en-US" sz="20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Master’s shows you </a:t>
            </a:r>
            <a:r>
              <a:rPr lang="en-US" sz="2000" b="1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*sustain* research and deliver a defensible contribution. </a:t>
            </a:r>
            <a:endParaRPr lang="en-US" sz="2000" b="1" i="1" dirty="0">
              <a:solidFill>
                <a:srgbClr val="FF0000"/>
              </a:solidFill>
            </a:endParaRPr>
          </a:p>
        </p:txBody>
      </p:sp>
      <p:sp>
        <p:nvSpPr>
          <p:cNvPr id="40" name="Text 38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workload *feels* like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Postgraduate work is uneven: long stretches of ambiguity, then rapid outputs.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867686" y="2524539"/>
            <a:ext cx="10972800" cy="38305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04800" indent="-304800">
              <a:lnSpc>
                <a:spcPct val="110000"/>
              </a:lnSpc>
              <a:buSzPct val="100000"/>
              <a:buChar char="•"/>
            </a:pPr>
            <a:r>
              <a:rPr lang="en-US" sz="2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Reading: ~3–4 research papers/week (especially early)</a:t>
            </a:r>
            <a:endParaRPr lang="en-US" sz="2800" dirty="0"/>
          </a:p>
          <a:p>
            <a:pPr marL="304800" indent="-304800">
              <a:lnSpc>
                <a:spcPct val="110000"/>
              </a:lnSpc>
              <a:buSzPct val="100000"/>
              <a:buChar char="•"/>
            </a:pPr>
            <a:r>
              <a:rPr lang="en-US" sz="2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Writing: weekly progress notes; drafting chapters earlier than you think</a:t>
            </a:r>
            <a:endParaRPr lang="en-US" sz="2800" dirty="0"/>
          </a:p>
          <a:p>
            <a:pPr marL="304800" indent="-304800">
              <a:lnSpc>
                <a:spcPct val="110000"/>
              </a:lnSpc>
              <a:buSzPct val="100000"/>
              <a:buChar char="•"/>
            </a:pPr>
            <a:r>
              <a:rPr lang="en-US" sz="2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Building: software artefacts, pipelines, experiments, or proofs</a:t>
            </a:r>
            <a:endParaRPr lang="en-US" sz="2800" dirty="0"/>
          </a:p>
          <a:p>
            <a:pPr marL="304800" indent="-304800">
              <a:lnSpc>
                <a:spcPct val="110000"/>
              </a:lnSpc>
              <a:buSzPct val="100000"/>
              <a:buChar char="•"/>
            </a:pPr>
            <a:r>
              <a:rPr lang="en-US" sz="2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Evaluating: baselines, ablations, error analysis, and limitations</a:t>
            </a:r>
            <a:endParaRPr lang="en-US" sz="2800" dirty="0"/>
          </a:p>
          <a:p>
            <a:pPr marL="304800" indent="-304800">
              <a:lnSpc>
                <a:spcPct val="110000"/>
              </a:lnSpc>
              <a:buSzPct val="100000"/>
              <a:buChar char="•"/>
            </a:pPr>
            <a:r>
              <a:rPr lang="en-US" sz="2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Meetings: regular supervision + peer feedback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188720" y="4870174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budgeting starter pack (per week)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88720" y="5289605"/>
            <a:ext cx="1042416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000" dirty="0">
                <a:solidFill>
                  <a:srgbClr val="37415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2–4h reading • 2h writing • 8–15h building/evaluation • 1h supervisor prep + meeting • 1h admin/backup     </a:t>
            </a:r>
            <a:r>
              <a:rPr lang="en-US" sz="2000" dirty="0">
                <a:solidFill>
                  <a:srgbClr val="6B728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If you only have “coding time”, you will fall behind.</a:t>
            </a:r>
            <a:endParaRPr lang="en-US" sz="20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Honours milestones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year moves fast: lock scope early, iterate often.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2226564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Honours (illustrative year plan)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22960" y="3017520"/>
            <a:ext cx="10972800" cy="0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Shape 6"/>
          <p:cNvSpPr/>
          <p:nvPr/>
        </p:nvSpPr>
        <p:spPr>
          <a:xfrm>
            <a:off x="1627632" y="2907792"/>
            <a:ext cx="219456" cy="219456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" name="Text 7"/>
          <p:cNvSpPr/>
          <p:nvPr/>
        </p:nvSpPr>
        <p:spPr>
          <a:xfrm>
            <a:off x="1005840" y="324612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+ supervisor/ethics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56432" y="2907792"/>
            <a:ext cx="219456" cy="219456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/>
          <p:nvPr/>
        </p:nvSpPr>
        <p:spPr>
          <a:xfrm>
            <a:off x="2834640" y="324612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+ plan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285232" y="2907792"/>
            <a:ext cx="219456" cy="219456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4663440" y="324612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 review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114032" y="2907792"/>
            <a:ext cx="219456" cy="219456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Text 13"/>
          <p:cNvSpPr/>
          <p:nvPr/>
        </p:nvSpPr>
        <p:spPr>
          <a:xfrm>
            <a:off x="6492240" y="324612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+ experiments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942832" y="2907792"/>
            <a:ext cx="219456" cy="219456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7" name="Text 15"/>
          <p:cNvSpPr/>
          <p:nvPr/>
        </p:nvSpPr>
        <p:spPr>
          <a:xfrm>
            <a:off x="8321040" y="324612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+ submit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771632" y="2907792"/>
            <a:ext cx="219456" cy="219456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Text 17"/>
          <p:cNvSpPr/>
          <p:nvPr/>
        </p:nvSpPr>
        <p:spPr>
          <a:xfrm>
            <a:off x="10149840" y="324612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3840480"/>
            <a:ext cx="10972800" cy="45719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04800" indent="-304800">
              <a:lnSpc>
                <a:spcPct val="110000"/>
              </a:lnSpc>
              <a:buSzPct val="100000"/>
              <a:buChar char="•"/>
            </a:pPr>
            <a:endParaRPr lang="en-US" sz="24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04800" indent="-30480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 should be visible every 2–3 weeks (notes, plots, results, drafts)</a:t>
            </a:r>
            <a:endParaRPr lang="en-US" sz="2400" dirty="0"/>
          </a:p>
          <a:p>
            <a:pPr marL="304800" indent="-30480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“working baseline” early beats a perfect solution late</a:t>
            </a:r>
            <a:endParaRPr lang="en-US" sz="2400" dirty="0"/>
          </a:p>
          <a:p>
            <a:pPr marL="304800" indent="-30480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the evaluation plan before heavy implementation</a:t>
            </a:r>
          </a:p>
          <a:p>
            <a:pPr marL="304800" indent="-304800">
              <a:lnSpc>
                <a:spcPct val="110000"/>
              </a:lnSpc>
              <a:buSzPct val="100000"/>
              <a:buFontTx/>
              <a:buChar char="•"/>
            </a:pPr>
            <a:r>
              <a:rPr lang="en-US" sz="2400" dirty="0"/>
              <a:t>Explain milestone purpose: a proposal is a contract with yourself.
Stress: you can’t “make up” a semester of reading in the last month.</a:t>
            </a:r>
          </a:p>
          <a:p>
            <a:pPr marL="304800" indent="-304800">
              <a:lnSpc>
                <a:spcPct val="110000"/>
              </a:lnSpc>
              <a:buSzPct val="100000"/>
              <a:buChar char="•"/>
            </a:pP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280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        Treat deadlines as immovable; treat features as flexible.</a:t>
            </a:r>
            <a:endParaRPr lang="en-US" sz="2000" dirty="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Master’s milestones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Master’s is a longer arc: sharper question, deeper validation, stronger writing.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Master’s (illustrative 18–24 months)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3017520"/>
            <a:ext cx="10972800" cy="0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Shape 6"/>
          <p:cNvSpPr/>
          <p:nvPr/>
        </p:nvSpPr>
        <p:spPr>
          <a:xfrm>
            <a:off x="1497003" y="2907792"/>
            <a:ext cx="219456" cy="219456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" name="Text 7"/>
          <p:cNvSpPr/>
          <p:nvPr/>
        </p:nvSpPr>
        <p:spPr>
          <a:xfrm>
            <a:off x="979714" y="3246120"/>
            <a:ext cx="125403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framing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064546" y="2907792"/>
            <a:ext cx="219456" cy="219456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/>
          <p:nvPr/>
        </p:nvSpPr>
        <p:spPr>
          <a:xfrm>
            <a:off x="2547257" y="3246120"/>
            <a:ext cx="125403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Proposal/ethics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32089" y="2907792"/>
            <a:ext cx="219456" cy="219456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4114800" y="3246120"/>
            <a:ext cx="125403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 synthesis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99632" y="2907792"/>
            <a:ext cx="219456" cy="219456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Text 13"/>
          <p:cNvSpPr/>
          <p:nvPr/>
        </p:nvSpPr>
        <p:spPr>
          <a:xfrm>
            <a:off x="5682343" y="3246120"/>
            <a:ext cx="125403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+ build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67175" y="2907792"/>
            <a:ext cx="219456" cy="219456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7" name="Text 15"/>
          <p:cNvSpPr/>
          <p:nvPr/>
        </p:nvSpPr>
        <p:spPr>
          <a:xfrm>
            <a:off x="7249886" y="3246120"/>
            <a:ext cx="125403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334718" y="2907792"/>
            <a:ext cx="219456" cy="219456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Text 17"/>
          <p:cNvSpPr/>
          <p:nvPr/>
        </p:nvSpPr>
        <p:spPr>
          <a:xfrm>
            <a:off x="8817429" y="3246120"/>
            <a:ext cx="125403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Write-up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902261" y="2907792"/>
            <a:ext cx="219456" cy="219456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1" name="Text 19"/>
          <p:cNvSpPr/>
          <p:nvPr/>
        </p:nvSpPr>
        <p:spPr>
          <a:xfrm>
            <a:off x="10384971" y="3246120"/>
            <a:ext cx="125403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Submit/defend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3566160"/>
            <a:ext cx="109728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04800" indent="-30480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 multiple iterations of your RQ and scope before it stabilises</a:t>
            </a:r>
            <a:endParaRPr lang="en-US" sz="2400" dirty="0"/>
          </a:p>
          <a:p>
            <a:pPr marL="304800" indent="-30480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for publishable structure: clear baselines, reproducible experiments</a:t>
            </a:r>
            <a:endParaRPr lang="en-US" sz="2400" dirty="0"/>
          </a:p>
          <a:p>
            <a:pPr marL="304800" indent="-30480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“buffer time” for data issues, compute limits, and rewrite cycles</a:t>
            </a:r>
          </a:p>
          <a:p>
            <a:pPr>
              <a:lnSpc>
                <a:spcPct val="110000"/>
              </a:lnSpc>
              <a:buSzPct val="100000"/>
            </a:pPr>
            <a:r>
              <a:rPr lang="en-US" sz="2400" dirty="0"/>
              <a:t>
Highlight the importance of ethics/permissions early for human data or sensitive datasets.</a:t>
            </a:r>
          </a:p>
          <a:p>
            <a:pPr marL="304800" indent="-304800">
              <a:lnSpc>
                <a:spcPct val="110000"/>
              </a:lnSpc>
              <a:buSzPct val="100000"/>
              <a:buChar char="•"/>
            </a:pP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B7280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A thesis is a project-management document as much as a research document</a:t>
            </a:r>
            <a:r>
              <a:rPr lang="en-US" sz="12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research looks like in Computer Science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subfields, same logic: claims must be supported by evidence.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3520440" cy="242316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1051560" y="25146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/ ML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2880360"/>
            <a:ext cx="3063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method, training trick, model variant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benchmarks, ablations, error analysis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26280" y="2331720"/>
            <a:ext cx="3520440" cy="242316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4754880" y="25146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/ 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54880" y="2880360"/>
            <a:ext cx="3063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architecture, tool, optimisation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throughput/latency, reliability, case studies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229600" y="2331720"/>
            <a:ext cx="3520440" cy="242316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8458200" y="25146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HCI / Info Systems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458200" y="2880360"/>
            <a:ext cx="3063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interaction, design, socio-technical insight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user study, qualitative themes, statistical tests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914400" y="6101743"/>
            <a:ext cx="10972800" cy="8686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r>
              <a:rPr lang="en-US" dirty="0"/>
              <a:t>Quick examples: improve accuracy, improve fairness, reduce compute, improve usability.
Emphasis: evaluation and baselines turn software into research.</a:t>
            </a:r>
          </a:p>
        </p:txBody>
      </p:sp>
      <p:sp>
        <p:nvSpPr>
          <p:cNvPr id="16" name="Text 14"/>
          <p:cNvSpPr/>
          <p:nvPr/>
        </p:nvSpPr>
        <p:spPr>
          <a:xfrm>
            <a:off x="1097280" y="5059017"/>
            <a:ext cx="10424160" cy="6102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research in CS often includes “building.”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97280" y="548640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*research* is the justification for the design choices + evaluation + limitations—not the code by itself.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research cycle (repeatable)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loop—often. That is normal.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423160"/>
            <a:ext cx="1463040" cy="8229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841248" y="2532888"/>
            <a:ext cx="124358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(problem &amp; context)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2240280" y="2834640"/>
            <a:ext cx="0" cy="1097280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ZA"/>
          </a:p>
        </p:txBody>
      </p:sp>
      <p:sp>
        <p:nvSpPr>
          <p:cNvPr id="9" name="Shape 7"/>
          <p:cNvSpPr/>
          <p:nvPr/>
        </p:nvSpPr>
        <p:spPr>
          <a:xfrm>
            <a:off x="2299063" y="3520440"/>
            <a:ext cx="1463040" cy="8229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2408791" y="3630168"/>
            <a:ext cx="124358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(literature)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807823" y="3931920"/>
            <a:ext cx="0" cy="0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ZA"/>
          </a:p>
        </p:txBody>
      </p:sp>
      <p:sp>
        <p:nvSpPr>
          <p:cNvPr id="12" name="Shape 10"/>
          <p:cNvSpPr/>
          <p:nvPr/>
        </p:nvSpPr>
        <p:spPr>
          <a:xfrm>
            <a:off x="3866606" y="2423160"/>
            <a:ext cx="1463040" cy="8229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3976334" y="2532888"/>
            <a:ext cx="124358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Formulate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(RQ &amp; hypotheses)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375366" y="2834640"/>
            <a:ext cx="0" cy="1097280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ZA"/>
          </a:p>
        </p:txBody>
      </p:sp>
      <p:sp>
        <p:nvSpPr>
          <p:cNvPr id="15" name="Shape 13"/>
          <p:cNvSpPr/>
          <p:nvPr/>
        </p:nvSpPr>
        <p:spPr>
          <a:xfrm>
            <a:off x="5434149" y="3520440"/>
            <a:ext cx="1463040" cy="8229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Text 14"/>
          <p:cNvSpPr/>
          <p:nvPr/>
        </p:nvSpPr>
        <p:spPr>
          <a:xfrm>
            <a:off x="5543877" y="3630168"/>
            <a:ext cx="124358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(method &amp; data</a:t>
            </a: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942909" y="3931920"/>
            <a:ext cx="0" cy="0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ZA"/>
          </a:p>
        </p:txBody>
      </p:sp>
      <p:sp>
        <p:nvSpPr>
          <p:cNvPr id="18" name="Shape 16"/>
          <p:cNvSpPr/>
          <p:nvPr/>
        </p:nvSpPr>
        <p:spPr>
          <a:xfrm>
            <a:off x="7001691" y="2423160"/>
            <a:ext cx="1463040" cy="8229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Text 17"/>
          <p:cNvSpPr/>
          <p:nvPr/>
        </p:nvSpPr>
        <p:spPr>
          <a:xfrm>
            <a:off x="7111419" y="2532888"/>
            <a:ext cx="124358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(artifact)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8510451" y="2834640"/>
            <a:ext cx="0" cy="1097280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ZA"/>
          </a:p>
        </p:txBody>
      </p:sp>
      <p:sp>
        <p:nvSpPr>
          <p:cNvPr id="21" name="Shape 19"/>
          <p:cNvSpPr/>
          <p:nvPr/>
        </p:nvSpPr>
        <p:spPr>
          <a:xfrm>
            <a:off x="8569234" y="3520440"/>
            <a:ext cx="1463040" cy="8229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2" name="Text 20"/>
          <p:cNvSpPr/>
          <p:nvPr/>
        </p:nvSpPr>
        <p:spPr>
          <a:xfrm>
            <a:off x="8678962" y="3630168"/>
            <a:ext cx="124358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(evidence)</a:t>
            </a: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10077994" y="3931920"/>
            <a:ext cx="0" cy="0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ZA"/>
          </a:p>
        </p:txBody>
      </p:sp>
      <p:sp>
        <p:nvSpPr>
          <p:cNvPr id="24" name="Shape 22"/>
          <p:cNvSpPr/>
          <p:nvPr/>
        </p:nvSpPr>
        <p:spPr>
          <a:xfrm>
            <a:off x="10136777" y="2423160"/>
            <a:ext cx="1463040" cy="8229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5" name="Text 23"/>
          <p:cNvSpPr/>
          <p:nvPr/>
        </p:nvSpPr>
        <p:spPr>
          <a:xfrm>
            <a:off x="10246505" y="2532888"/>
            <a:ext cx="124358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(write/present)</a:t>
            </a: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841248" y="4503420"/>
            <a:ext cx="1097280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7" name="Text 25"/>
          <p:cNvSpPr/>
          <p:nvPr/>
        </p:nvSpPr>
        <p:spPr>
          <a:xfrm>
            <a:off x="926592" y="459486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job each week</a:t>
            </a: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953589" y="4950681"/>
            <a:ext cx="1042416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one loop forward: </a:t>
            </a:r>
            <a:r>
              <a:rPr lang="en-US" sz="2000" dirty="0">
                <a:solidFill>
                  <a:srgbClr val="374151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better RQ, clearer plan, a plot, a baseline, a paragraph, a table.</a:t>
            </a:r>
            <a:endParaRPr lang="en-US" sz="2000" dirty="0">
              <a:highlight>
                <a:srgbClr val="FFFF00"/>
              </a:highlight>
            </a:endParaRPr>
          </a:p>
        </p:txBody>
      </p:sp>
      <p:sp>
        <p:nvSpPr>
          <p:cNvPr id="29" name="Text 27"/>
          <p:cNvSpPr/>
          <p:nvPr/>
        </p:nvSpPr>
        <p:spPr>
          <a:xfrm>
            <a:off x="841248" y="5344270"/>
            <a:ext cx="11064240" cy="507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Progress is cumulative: </a:t>
            </a:r>
            <a:r>
              <a:rPr lang="en-US" sz="20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weekly outputs beat heroic last-minute sprints</a:t>
            </a: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0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9433A11-4D45-3C06-AA63-C8A51E06E514}"/>
              </a:ext>
            </a:extLst>
          </p:cNvPr>
          <p:cNvSpPr txBox="1"/>
          <p:nvPr/>
        </p:nvSpPr>
        <p:spPr>
          <a:xfrm>
            <a:off x="953588" y="6107639"/>
            <a:ext cx="107354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Explain that ‘stuck’ often means you’re trying to jump steps (e.g., building before RQ or evaluation plan).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→ Research question → Contribution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project is not a topic. It’s a question with an answer you can defend.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 rot="10800000">
            <a:off x="1097280" y="2148840"/>
            <a:ext cx="3383280" cy="3108960"/>
          </a:xfrm>
          <a:prstGeom prst="triangle">
            <a:avLst/>
          </a:prstGeom>
          <a:solidFill>
            <a:srgbClr val="E5E7E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1097280" y="22402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34440" y="269748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interest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if…?”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 rot="10800000">
            <a:off x="4617720" y="2148840"/>
            <a:ext cx="3383280" cy="3108960"/>
          </a:xfrm>
          <a:prstGeom prst="triangle">
            <a:avLst/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4617720" y="22402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54880" y="269748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Specific, answerable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Defines: context + method + metric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 rot="10800000">
            <a:off x="8138160" y="2148840"/>
            <a:ext cx="3383280" cy="3108960"/>
          </a:xfrm>
          <a:prstGeom prst="triangle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8138160" y="22402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75320" y="269748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add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(artifact + evidence + insight)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36104" y="5337811"/>
            <a:ext cx="10976776" cy="1446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b="1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Example (CS)</a:t>
            </a:r>
          </a:p>
          <a:p>
            <a:r>
              <a:rPr lang="en-US" sz="2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Idea: “Use ML for traffic.”</a:t>
            </a:r>
            <a:endParaRPr lang="en-US" sz="2000" dirty="0"/>
          </a:p>
          <a:p>
            <a:r>
              <a:rPr lang="en-US" sz="2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RQ: “Can reinforcement learning reduce average queue length at a Durban intersection vs fixed-time control?”</a:t>
            </a:r>
            <a:endParaRPr lang="en-US" sz="2000" dirty="0"/>
          </a:p>
          <a:p>
            <a:r>
              <a:rPr lang="en-US" sz="2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Contribution: “An RL controller + evaluation showing X% reduction, with limitations and failure cases.”</a:t>
            </a:r>
            <a:endParaRPr lang="en-US" sz="20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5482424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6104" y="6390364"/>
            <a:ext cx="11064240" cy="103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280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If you cannot state the RQ in one sentence, your scope is probably too big.</a:t>
            </a:r>
          </a:p>
          <a:p>
            <a:r>
              <a:rPr lang="en-US" sz="2000" dirty="0"/>
              <a:t>Explain: </a:t>
            </a:r>
            <a:r>
              <a:rPr lang="en-US" sz="2000" dirty="0">
                <a:solidFill>
                  <a:srgbClr val="FF0000"/>
                </a:solidFill>
              </a:rPr>
              <a:t>contribution may be “negative” (showing what doesn’t work) if rigorously justified.</a:t>
            </a:r>
            <a:r>
              <a:rPr lang="en-US" sz="2000" dirty="0"/>
              <a:t>
Encourage students to write and revise a 1-sentence RQ weekly, early on.</a:t>
            </a:r>
          </a:p>
          <a:p>
            <a:pPr marL="0" indent="0">
              <a:buNone/>
            </a:pPr>
            <a:endParaRPr lang="en-US" sz="2000" dirty="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a good research question?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RQ is </a:t>
            </a:r>
            <a:r>
              <a:rPr lang="en-US" sz="28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answerable</a:t>
            </a:r>
            <a:r>
              <a:rPr lang="en-US" sz="2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evaluable, and </a:t>
            </a:r>
            <a:r>
              <a:rPr lang="en-US" sz="28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</a:t>
            </a:r>
            <a:r>
              <a:rPr lang="en-US" sz="2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your resources.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70560" y="2308860"/>
            <a:ext cx="109728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04800" indent="-30480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</a:t>
            </a: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defines context (task, dataset/users, constraints)</a:t>
            </a:r>
            <a:endParaRPr lang="en-US" sz="2400" dirty="0"/>
          </a:p>
          <a:p>
            <a:pPr marL="304800" indent="-30480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Testable: implies evidence you can collect (experiments, study, proofs)</a:t>
            </a:r>
            <a:endParaRPr lang="en-US" sz="2400" dirty="0"/>
          </a:p>
          <a:p>
            <a:pPr marL="304800" indent="-30480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</a:t>
            </a: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names baselines or alternatives</a:t>
            </a:r>
            <a:endParaRPr lang="en-US" sz="2400" dirty="0"/>
          </a:p>
          <a:p>
            <a:pPr marL="304800" indent="-30480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Measurable: defines success metrics (accuracy, latency, usability, etc.)</a:t>
            </a:r>
            <a:endParaRPr lang="en-US" sz="2400" dirty="0"/>
          </a:p>
          <a:p>
            <a:pPr marL="304800" indent="-30480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Feasible: fits time, compute, data access, skills, and ethics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64319" y="4526281"/>
            <a:ext cx="10424160" cy="3657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b="1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600" b="1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600" b="1" dirty="0">
              <a:solidFill>
                <a:srgbClr val="FF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600" b="1" dirty="0">
              <a:solidFill>
                <a:srgbClr val="FF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RQ template</a:t>
            </a:r>
          </a:p>
          <a:p>
            <a:pPr marL="0" indent="0">
              <a:buNone/>
            </a:pPr>
            <a:endParaRPr lang="en-US" sz="1600" b="1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2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[context], does [approach] outperform [baseline] on [metric], under [constraints]?</a:t>
            </a:r>
          </a:p>
          <a:p>
            <a:endParaRPr lang="en-US" sz="2000" dirty="0"/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6263640"/>
            <a:ext cx="1042416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92480" y="5384800"/>
            <a:ext cx="11064240" cy="1351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>
              <a:solidFill>
                <a:srgbClr val="6B728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6B7280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“Interesting” without evidence is just an opinion.</a:t>
            </a:r>
          </a:p>
          <a:p>
            <a:r>
              <a:rPr lang="en-US" sz="2000" dirty="0"/>
              <a:t>Use a simple example from class.
Emphasis: feasibility is not “lower standards”; it is research realism.</a:t>
            </a:r>
          </a:p>
          <a:p>
            <a:pPr marL="0" indent="0">
              <a:buNone/>
            </a:pPr>
            <a:endParaRPr lang="en-US" sz="2000" dirty="0">
              <a:solidFill>
                <a:srgbClr val="6B728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types of CS research contributions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374151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Not every contribution is a brand-new algorithm.</a:t>
            </a:r>
            <a:endParaRPr lang="en-US" sz="2800" dirty="0">
              <a:highlight>
                <a:srgbClr val="FFFF00"/>
              </a:highlight>
            </a:endParaRPr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2834640" cy="566928"/>
          </a:xfrm>
          <a:prstGeom prst="rect">
            <a:avLst/>
          </a:prstGeom>
          <a:solidFill>
            <a:srgbClr val="111827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868680" y="23774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type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566160" y="2286000"/>
            <a:ext cx="4572000" cy="566928"/>
          </a:xfrm>
          <a:prstGeom prst="rect">
            <a:avLst/>
          </a:prstGeom>
          <a:solidFill>
            <a:srgbClr val="111827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" name="Text 7"/>
          <p:cNvSpPr/>
          <p:nvPr/>
        </p:nvSpPr>
        <p:spPr>
          <a:xfrm>
            <a:off x="3703320" y="237744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38160" y="2286000"/>
            <a:ext cx="3840480" cy="566928"/>
          </a:xfrm>
          <a:prstGeom prst="rect">
            <a:avLst/>
          </a:prstGeom>
          <a:solidFill>
            <a:srgbClr val="111827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/>
          <p:nvPr/>
        </p:nvSpPr>
        <p:spPr>
          <a:xfrm>
            <a:off x="8275320" y="237744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must provide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2852928"/>
            <a:ext cx="2834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868680" y="294436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/ model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566160" y="2852928"/>
            <a:ext cx="45720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Text 13"/>
          <p:cNvSpPr/>
          <p:nvPr/>
        </p:nvSpPr>
        <p:spPr>
          <a:xfrm>
            <a:off x="3703320" y="2944368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loss, architecture tweak, heuristic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38160" y="2852928"/>
            <a:ext cx="3840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7" name="Text 15"/>
          <p:cNvSpPr/>
          <p:nvPr/>
        </p:nvSpPr>
        <p:spPr>
          <a:xfrm>
            <a:off x="8275320" y="294436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 + ablations + error analysis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1520" y="3419856"/>
            <a:ext cx="2834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Text 17"/>
          <p:cNvSpPr/>
          <p:nvPr/>
        </p:nvSpPr>
        <p:spPr>
          <a:xfrm>
            <a:off x="868680" y="3511296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/ tool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566160" y="3419856"/>
            <a:ext cx="45720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1" name="Text 19"/>
          <p:cNvSpPr/>
          <p:nvPr/>
        </p:nvSpPr>
        <p:spPr>
          <a:xfrm>
            <a:off x="3703320" y="3511296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pass, simulator, pipeline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138160" y="3419856"/>
            <a:ext cx="3840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3" name="Text 21"/>
          <p:cNvSpPr/>
          <p:nvPr/>
        </p:nvSpPr>
        <p:spPr>
          <a:xfrm>
            <a:off x="8275320" y="3511296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+ robustness + usability evidence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31520" y="3986784"/>
            <a:ext cx="2834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5" name="Text 23"/>
          <p:cNvSpPr/>
          <p:nvPr/>
        </p:nvSpPr>
        <p:spPr>
          <a:xfrm>
            <a:off x="868680" y="407822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/ benchmark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566160" y="3986784"/>
            <a:ext cx="45720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7" name="Text 25"/>
          <p:cNvSpPr/>
          <p:nvPr/>
        </p:nvSpPr>
        <p:spPr>
          <a:xfrm>
            <a:off x="3703320" y="4078224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corpus, labelled set, eval suite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138160" y="3986784"/>
            <a:ext cx="3840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9" name="Text 27"/>
          <p:cNvSpPr/>
          <p:nvPr/>
        </p:nvSpPr>
        <p:spPr>
          <a:xfrm>
            <a:off x="8275320" y="4078224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+ ethics + reproducibility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31520" y="4553712"/>
            <a:ext cx="2834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1" name="Text 29"/>
          <p:cNvSpPr/>
          <p:nvPr/>
        </p:nvSpPr>
        <p:spPr>
          <a:xfrm>
            <a:off x="868680" y="464515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insight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566160" y="4553712"/>
            <a:ext cx="45720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3" name="Text 31"/>
          <p:cNvSpPr/>
          <p:nvPr/>
        </p:nvSpPr>
        <p:spPr>
          <a:xfrm>
            <a:off x="3703320" y="4645152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modes, trade-offs, replication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138160" y="4553712"/>
            <a:ext cx="3840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5" name="Text 33"/>
          <p:cNvSpPr/>
          <p:nvPr/>
        </p:nvSpPr>
        <p:spPr>
          <a:xfrm>
            <a:off x="8275320" y="464515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methodology + limitations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31520" y="2286000"/>
            <a:ext cx="11247120" cy="2834640"/>
          </a:xfrm>
          <a:prstGeom prst="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7" name="Shape 35"/>
          <p:cNvSpPr/>
          <p:nvPr/>
        </p:nvSpPr>
        <p:spPr>
          <a:xfrm>
            <a:off x="686794" y="5577840"/>
            <a:ext cx="11155680" cy="10515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6B7280"/>
              </a:solidFill>
              <a:effectLst/>
              <a:uLnTx/>
              <a:uFillTx/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200" dirty="0">
              <a:solidFill>
                <a:srgbClr val="6B728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6B7280"/>
              </a:solidFill>
              <a:effectLst/>
              <a:uLnTx/>
              <a:uFillTx/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200" dirty="0">
              <a:solidFill>
                <a:srgbClr val="6B728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   Contribution = novelty + value + evidence</a:t>
            </a:r>
            <a:endParaRPr lang="en-ZA" sz="2000" dirty="0"/>
          </a:p>
        </p:txBody>
      </p:sp>
      <p:sp>
        <p:nvSpPr>
          <p:cNvPr id="38" name="Text 36"/>
          <p:cNvSpPr/>
          <p:nvPr/>
        </p:nvSpPr>
        <p:spPr>
          <a:xfrm>
            <a:off x="961114" y="568717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Your examiner’s question</a:t>
            </a:r>
            <a:endParaRPr lang="en-US" sz="1600" dirty="0">
              <a:highlight>
                <a:srgbClr val="FFFF00"/>
              </a:highlight>
            </a:endParaRPr>
          </a:p>
        </p:txBody>
      </p:sp>
      <p:sp>
        <p:nvSpPr>
          <p:cNvPr id="39" name="Text 37"/>
          <p:cNvSpPr/>
          <p:nvPr/>
        </p:nvSpPr>
        <p:spPr>
          <a:xfrm>
            <a:off x="961114" y="6007608"/>
            <a:ext cx="1060704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would the field lose if this thesis did not exist?”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686794" y="6528816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research plan: a map, not a prophecy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A plan reduces uncertainty by making assumptions explicit.</a:t>
            </a:r>
            <a:endParaRPr lang="en-US" sz="2000" dirty="0">
              <a:highlight>
                <a:srgbClr val="FFFF00"/>
              </a:highlight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109728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</a:t>
            </a:r>
            <a:r>
              <a:rPr lang="en-US" sz="2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motivation (why this matters)</a:t>
            </a:r>
            <a:endParaRPr lang="en-US" sz="22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 map (what exists; where the gap is)</a:t>
            </a:r>
            <a:endParaRPr lang="en-US" sz="22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111827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question(s)</a:t>
            </a:r>
            <a:r>
              <a:rPr lang="en-US" sz="2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expected contribution</a:t>
            </a:r>
            <a:endParaRPr lang="en-US" sz="22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Methodology: data, tools, experimental design, evaluation metrics</a:t>
            </a:r>
            <a:endParaRPr lang="en-US" sz="22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0000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Milestones + deliverables </a:t>
            </a:r>
            <a:r>
              <a:rPr lang="en-US" sz="2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(every 2–3 weeks)</a:t>
            </a:r>
            <a:endParaRPr lang="en-US" sz="22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+ mitigations </a:t>
            </a:r>
            <a:r>
              <a:rPr lang="en-US" sz="2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(data access, compute limits, scope creep)</a:t>
            </a:r>
            <a:endParaRPr lang="en-US" sz="22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</a:t>
            </a:r>
            <a:r>
              <a:rPr lang="en-US" sz="2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version control, experiment logs, backups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97280" y="514350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One-page plan exercise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5496339"/>
            <a:ext cx="1042416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Write: RQ • baseline • metric • dataset/users • minimum viable experiment (MVE) • next 2 weeks tasks.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097280" y="58293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your plan when evidence changes—not when you feel guilty.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research outputs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Think in multiple outputs: writing + artefacts + evidence.</a:t>
            </a:r>
            <a:endParaRPr lang="en-US" sz="2400" dirty="0">
              <a:highlight>
                <a:srgbClr val="FFFF00"/>
              </a:highlight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10972800" cy="46604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04800" indent="-304800">
              <a:lnSpc>
                <a:spcPct val="110000"/>
              </a:lnSpc>
              <a:buSzPct val="100000"/>
              <a:buChar char="•"/>
            </a:pPr>
            <a:r>
              <a:rPr lang="en-US" sz="2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document (proposal, report, dissertation)</a:t>
            </a:r>
            <a:endParaRPr lang="en-US" sz="2800" dirty="0"/>
          </a:p>
          <a:p>
            <a:pPr marL="304800" indent="-304800">
              <a:lnSpc>
                <a:spcPct val="110000"/>
              </a:lnSpc>
              <a:buSzPct val="100000"/>
              <a:buChar char="•"/>
            </a:pPr>
            <a:r>
              <a:rPr lang="en-US" sz="28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research artefact</a:t>
            </a:r>
            <a:r>
              <a:rPr lang="en-US" sz="2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code, model, system, dataset, or prototype</a:t>
            </a:r>
            <a:endParaRPr lang="en-US" sz="2800" dirty="0"/>
          </a:p>
          <a:p>
            <a:pPr marL="304800" indent="-304800">
              <a:lnSpc>
                <a:spcPct val="110000"/>
              </a:lnSpc>
              <a:buSzPct val="100000"/>
              <a:buChar char="•"/>
            </a:pPr>
            <a:r>
              <a:rPr lang="en-US" sz="2800" dirty="0">
                <a:solidFill>
                  <a:srgbClr val="111827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r>
              <a:rPr lang="en-US" sz="2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tables, plots, statistical tests, qualitative themes</a:t>
            </a:r>
            <a:endParaRPr lang="en-US" sz="2800" dirty="0"/>
          </a:p>
          <a:p>
            <a:pPr marL="304800" indent="-304800">
              <a:lnSpc>
                <a:spcPct val="110000"/>
              </a:lnSpc>
              <a:buSzPct val="100000"/>
              <a:buChar char="•"/>
            </a:pPr>
            <a:r>
              <a:rPr lang="en-US" sz="28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narrative</a:t>
            </a:r>
            <a:r>
              <a:rPr lang="en-US" sz="2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what works, what fails, why, and for whom</a:t>
            </a:r>
            <a:endParaRPr lang="en-US" sz="2800" dirty="0"/>
          </a:p>
          <a:p>
            <a:pPr marL="304800" indent="-304800">
              <a:lnSpc>
                <a:spcPct val="110000"/>
              </a:lnSpc>
              <a:buSzPct val="100000"/>
              <a:buChar char="•"/>
            </a:pPr>
            <a:r>
              <a:rPr lang="en-US" sz="2800" dirty="0">
                <a:solidFill>
                  <a:srgbClr val="111827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A final presentation/poster and (sometimes) a publishable paper</a:t>
            </a:r>
          </a:p>
          <a:p>
            <a:pPr marL="304800" indent="-304800">
              <a:lnSpc>
                <a:spcPct val="110000"/>
              </a:lnSpc>
              <a:buSzPct val="100000"/>
              <a:buFontTx/>
              <a:buChar char="•"/>
            </a:pPr>
            <a:r>
              <a:rPr lang="en-US" sz="2400" dirty="0"/>
              <a:t>Emphasis: outputs make assessment easier and reduce last-minute panic</a:t>
            </a:r>
            <a:r>
              <a:rPr lang="en-US" sz="2800" dirty="0"/>
              <a:t>.</a:t>
            </a:r>
          </a:p>
          <a:p>
            <a:pPr marL="304800" indent="-304800">
              <a:lnSpc>
                <a:spcPct val="110000"/>
              </a:lnSpc>
              <a:buSzPct val="100000"/>
              <a:buChar char="•"/>
            </a:pPr>
            <a:endParaRPr lang="en-US" sz="2800" dirty="0">
              <a:highlight>
                <a:srgbClr val="FFFF00"/>
              </a:highlight>
            </a:endParaRPr>
          </a:p>
        </p:txBody>
      </p:sp>
      <p:sp>
        <p:nvSpPr>
          <p:cNvPr id="8" name="Text 6"/>
          <p:cNvSpPr/>
          <p:nvPr/>
        </p:nvSpPr>
        <p:spPr>
          <a:xfrm>
            <a:off x="1097280" y="530352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expectation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97280" y="5618480"/>
            <a:ext cx="1042416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work must be understandable and reproducible by someone else with reasonable effort. </a:t>
            </a: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it isn’t written down, it didn’t happen.”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students struggle (1): scope &amp; ambiguity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Most projects fail because the scope was never made small enough.</a:t>
            </a:r>
            <a:endParaRPr lang="en-US" sz="2000" dirty="0">
              <a:highlight>
                <a:srgbClr val="FFFF00"/>
              </a:highlight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109728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04800" indent="-30480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 topic that is a *field* (e.g., “AI in healthcare”)</a:t>
            </a:r>
            <a:endParaRPr lang="en-US" sz="2400" dirty="0"/>
          </a:p>
          <a:p>
            <a:pPr marL="304800" indent="-30480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implementation before defining evaluation and baselines</a:t>
            </a:r>
            <a:endParaRPr lang="en-US" sz="2400" dirty="0"/>
          </a:p>
          <a:p>
            <a:pPr marL="304800" indent="-30480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direction weekly without a decision log</a:t>
            </a:r>
            <a:endParaRPr lang="en-US" sz="2400" dirty="0"/>
          </a:p>
          <a:p>
            <a:pPr marL="304800" indent="-30480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Equating “more features” with “more research”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08076" y="4206240"/>
            <a:ext cx="10972800" cy="9144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868680" y="420624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it with an MVE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4411980"/>
            <a:ext cx="1042416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Minimum Viable Experiment: baseline + metric + small dataset/users + one claim to test. Expand only after you have evidence</a:t>
            </a: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finished, evaluated beats big, unfinished, unvalidated</a:t>
            </a: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students struggle (2): time &amp; momentum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punishes long breaks.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109728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04800" indent="-30480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weekly rhythm → weeks disappear “doing admin”</a:t>
            </a:r>
            <a:endParaRPr lang="en-US" sz="2400" dirty="0"/>
          </a:p>
          <a:p>
            <a:pPr marL="304800" indent="-30480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for motivation before writing or reading</a:t>
            </a:r>
            <a:endParaRPr lang="en-US" sz="2400" dirty="0"/>
          </a:p>
          <a:p>
            <a:pPr marL="304800" indent="-30480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Underestimating rewrite time and experiment reruns</a:t>
            </a:r>
            <a:endParaRPr lang="en-US" sz="2400" dirty="0"/>
          </a:p>
          <a:p>
            <a:pPr marL="304800" indent="-30480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Trying to do everything alone (no feedback loops)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22960" y="5074920"/>
            <a:ext cx="2743200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960120" y="516636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566160" y="5074920"/>
            <a:ext cx="8229600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3703320" y="5166360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looks like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5513832"/>
            <a:ext cx="2743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/>
          <p:nvPr/>
        </p:nvSpPr>
        <p:spPr>
          <a:xfrm>
            <a:off x="960120" y="560527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meeting prep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566160" y="5513832"/>
            <a:ext cx="8229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3703320" y="5605272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1-page update: wins, blockers, next actions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5952744"/>
            <a:ext cx="2743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Text 14"/>
          <p:cNvSpPr/>
          <p:nvPr/>
        </p:nvSpPr>
        <p:spPr>
          <a:xfrm>
            <a:off x="960120" y="604418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early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566160" y="5952744"/>
            <a:ext cx="8229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3703320" y="6044184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section headings + placeholders in Week 2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22960" y="6391656"/>
            <a:ext cx="2743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0" name="Text 18"/>
          <p:cNvSpPr/>
          <p:nvPr/>
        </p:nvSpPr>
        <p:spPr>
          <a:xfrm>
            <a:off x="960120" y="648309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boxing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566160" y="6391656"/>
            <a:ext cx="8229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2" name="Text 20"/>
          <p:cNvSpPr/>
          <p:nvPr/>
        </p:nvSpPr>
        <p:spPr>
          <a:xfrm>
            <a:off x="3703320" y="6483096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2–3h focused blocks; end with a clear next step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22960" y="6830568"/>
            <a:ext cx="2743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4" name="Text 22"/>
          <p:cNvSpPr/>
          <p:nvPr/>
        </p:nvSpPr>
        <p:spPr>
          <a:xfrm>
            <a:off x="960120" y="692200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+ backups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566160" y="6830568"/>
            <a:ext cx="8229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6" name="Text 24"/>
          <p:cNvSpPr/>
          <p:nvPr/>
        </p:nvSpPr>
        <p:spPr>
          <a:xfrm>
            <a:off x="3703320" y="6922008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cloud + automated backups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22960" y="5074920"/>
            <a:ext cx="10972800" cy="2194560"/>
          </a:xfrm>
          <a:prstGeom prst="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students struggle (3): literature &amp; writing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everything is impossible. Reading strategically is essential.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109728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04800" indent="-30480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lost in papers without a purpose (“reading as procrastination”)</a:t>
            </a:r>
            <a:endParaRPr lang="en-US" sz="2400" dirty="0"/>
          </a:p>
          <a:p>
            <a:pPr marL="304800" indent="-30480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synthesising: summarising papers instead of comparing them</a:t>
            </a:r>
            <a:endParaRPr lang="en-US" sz="2400" dirty="0"/>
          </a:p>
          <a:p>
            <a:pPr marL="304800" indent="-30480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too late → weak argument and missing evidence</a:t>
            </a:r>
            <a:endParaRPr lang="en-US" sz="2400" dirty="0"/>
          </a:p>
          <a:p>
            <a:pPr marL="304800" indent="-30480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Plagiarism risk from poor note-taking and citation habits</a:t>
            </a:r>
          </a:p>
          <a:p>
            <a:pPr marL="304800" indent="-304800">
              <a:lnSpc>
                <a:spcPct val="110000"/>
              </a:lnSpc>
              <a:buSzPct val="100000"/>
              <a:buChar char="•"/>
            </a:pP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27760" y="4392433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reading workflow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4685637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paper: 1) What problem? 2) What method? 3) What evidence? 4) What limitations? 5) What can I reuse or test? </a:t>
            </a: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literature review is an argument, not a bibliography.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232121" y="5364314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is a system, not a personality trait.</a:t>
            </a:r>
            <a:endParaRPr 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students struggle (4): weak evaluation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CS, evaluation is where “coding” becomes “research”.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10972800" cy="4526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92100" indent="-292100">
              <a:lnSpc>
                <a:spcPct val="110000"/>
              </a:lnSpc>
              <a:buSzPct val="100000"/>
              <a:buChar char="•"/>
            </a:pPr>
            <a:r>
              <a:rPr lang="en-US" sz="2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baselines (cannot say if your method is better)</a:t>
            </a:r>
            <a:endParaRPr lang="en-US" sz="2800" dirty="0"/>
          </a:p>
          <a:p>
            <a:pPr marL="292100" indent="-292100">
              <a:lnSpc>
                <a:spcPct val="110000"/>
              </a:lnSpc>
              <a:buSzPct val="100000"/>
              <a:buChar char="•"/>
            </a:pPr>
            <a:r>
              <a:rPr lang="en-US" sz="2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metric only (misses trade-offs)</a:t>
            </a:r>
            <a:endParaRPr lang="en-US" sz="2800" dirty="0"/>
          </a:p>
          <a:p>
            <a:pPr marL="292100" indent="-292100">
              <a:lnSpc>
                <a:spcPct val="110000"/>
              </a:lnSpc>
              <a:buSzPct val="100000"/>
              <a:buChar char="•"/>
            </a:pPr>
            <a:r>
              <a:rPr lang="en-US" sz="2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ablations (unclear what caused improvement)</a:t>
            </a:r>
            <a:endParaRPr lang="en-US" sz="2800" dirty="0"/>
          </a:p>
          <a:p>
            <a:pPr marL="292100" indent="-292100">
              <a:lnSpc>
                <a:spcPct val="110000"/>
              </a:lnSpc>
              <a:buSzPct val="100000"/>
              <a:buChar char="•"/>
            </a:pPr>
            <a:r>
              <a:rPr lang="en-US" sz="2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leakage or unreported preprocessing decisions</a:t>
            </a:r>
            <a:endParaRPr lang="en-US" sz="2800" dirty="0"/>
          </a:p>
          <a:p>
            <a:pPr marL="292100" indent="-292100">
              <a:lnSpc>
                <a:spcPct val="110000"/>
              </a:lnSpc>
              <a:buSzPct val="100000"/>
              <a:buChar char="•"/>
            </a:pPr>
            <a:r>
              <a:rPr lang="en-US" sz="2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discussion of limitations and failure cases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97280" y="484632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checklist (starter)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97280" y="5100762"/>
            <a:ext cx="1042416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• metric(s) • train/test split • hyperparameter policy • compute budget • statistical check • error analysis • limitations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27760" y="57607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280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Your result is only as believable as your evaluation.</a:t>
            </a:r>
            <a:endParaRPr lang="en-US" sz="2000" dirty="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relationship: what “good” looks like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 is a feedback loop, not a rescue service.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109728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04800" indent="-30480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own the project; your supervisor helps you make better decisions</a:t>
            </a:r>
            <a:endParaRPr lang="en-US" sz="2400" dirty="0"/>
          </a:p>
          <a:p>
            <a:pPr marL="304800" indent="-30480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with artefacts: a paragraph, a plot, a table, a repo link, a question</a:t>
            </a:r>
            <a:endParaRPr lang="en-US" sz="2400" dirty="0"/>
          </a:p>
          <a:p>
            <a:pPr marL="304800" indent="-30480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on cadence: meeting frequency, response times, and expectations</a:t>
            </a:r>
            <a:endParaRPr lang="en-US" sz="2400" dirty="0"/>
          </a:p>
          <a:p>
            <a:pPr marL="304800" indent="-30480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decisions and next steps after every meeting</a:t>
            </a:r>
            <a:endParaRPr lang="en-US" sz="2400" dirty="0"/>
          </a:p>
          <a:p>
            <a:pPr marL="304800" indent="-30480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early when blocked (data access, ethics, personal issues)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44880" y="4512365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A simple meeting template</a:t>
            </a:r>
            <a:endParaRPr lang="en-US" sz="2000" dirty="0">
              <a:highlight>
                <a:srgbClr val="FFFF00"/>
              </a:highlight>
            </a:endParaRPr>
          </a:p>
        </p:txBody>
      </p:sp>
      <p:sp>
        <p:nvSpPr>
          <p:cNvPr id="9" name="Text 7"/>
          <p:cNvSpPr/>
          <p:nvPr/>
        </p:nvSpPr>
        <p:spPr>
          <a:xfrm>
            <a:off x="1012797" y="4906949"/>
            <a:ext cx="1042416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What changed since last time? 2) Evidence (show something). 3) Decisions needed. 4) Next 2 weeks plan.</a:t>
            </a:r>
            <a:endParaRPr lang="en-US" sz="2000" i="1" dirty="0"/>
          </a:p>
        </p:txBody>
      </p:sp>
      <p:sp>
        <p:nvSpPr>
          <p:cNvPr id="10" name="Text 8"/>
          <p:cNvSpPr/>
          <p:nvPr/>
        </p:nvSpPr>
        <p:spPr>
          <a:xfrm>
            <a:off x="1087341" y="5472485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feel “stuck”, bring evidence of what you tried.</a:t>
            </a:r>
            <a:endParaRPr lang="en-US" b="1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weekly operating system for research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progress predictable.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2423160"/>
            <a:ext cx="2194560" cy="530352"/>
          </a:xfrm>
          <a:prstGeom prst="rect">
            <a:avLst/>
          </a:prstGeom>
          <a:solidFill>
            <a:srgbClr val="111827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960120" y="25146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Day/Block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017520" y="2423160"/>
            <a:ext cx="3931920" cy="530352"/>
          </a:xfrm>
          <a:prstGeom prst="rect">
            <a:avLst/>
          </a:prstGeom>
          <a:solidFill>
            <a:srgbClr val="111827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" name="Text 7"/>
          <p:cNvSpPr/>
          <p:nvPr/>
        </p:nvSpPr>
        <p:spPr>
          <a:xfrm>
            <a:off x="3154680" y="25146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949440" y="2423160"/>
            <a:ext cx="4846320" cy="530352"/>
          </a:xfrm>
          <a:prstGeom prst="rect">
            <a:avLst/>
          </a:prstGeom>
          <a:solidFill>
            <a:srgbClr val="111827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/>
          <p:nvPr/>
        </p:nvSpPr>
        <p:spPr>
          <a:xfrm>
            <a:off x="7086600" y="251460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2953512"/>
            <a:ext cx="21945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960120" y="304495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(1h)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017520" y="2953512"/>
            <a:ext cx="3931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Text 13"/>
          <p:cNvSpPr/>
          <p:nvPr/>
        </p:nvSpPr>
        <p:spPr>
          <a:xfrm>
            <a:off x="3154680" y="304495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1–2 priorities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949440" y="2953512"/>
            <a:ext cx="4846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7" name="Text 15"/>
          <p:cNvSpPr/>
          <p:nvPr/>
        </p:nvSpPr>
        <p:spPr>
          <a:xfrm>
            <a:off x="7086600" y="304495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plan + risks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22960" y="3483864"/>
            <a:ext cx="21945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Text 17"/>
          <p:cNvSpPr/>
          <p:nvPr/>
        </p:nvSpPr>
        <p:spPr>
          <a:xfrm>
            <a:off x="960120" y="357530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(2–3h)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017520" y="3483864"/>
            <a:ext cx="3931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1" name="Text 19"/>
          <p:cNvSpPr/>
          <p:nvPr/>
        </p:nvSpPr>
        <p:spPr>
          <a:xfrm>
            <a:off x="3154680" y="357530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ideas &amp; gaps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949440" y="3483864"/>
            <a:ext cx="4846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3" name="Text 21"/>
          <p:cNvSpPr/>
          <p:nvPr/>
        </p:nvSpPr>
        <p:spPr>
          <a:xfrm>
            <a:off x="7086600" y="3575304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notes + 3 citations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22960" y="4014216"/>
            <a:ext cx="21945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5" name="Text 23"/>
          <p:cNvSpPr/>
          <p:nvPr/>
        </p:nvSpPr>
        <p:spPr>
          <a:xfrm>
            <a:off x="960120" y="410565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Build/Evaluate (8–15h)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017520" y="4014216"/>
            <a:ext cx="3931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7" name="Text 25"/>
          <p:cNvSpPr/>
          <p:nvPr/>
        </p:nvSpPr>
        <p:spPr>
          <a:xfrm>
            <a:off x="3154680" y="410565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MVE / experiments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949440" y="4014216"/>
            <a:ext cx="4846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9" name="Text 27"/>
          <p:cNvSpPr/>
          <p:nvPr/>
        </p:nvSpPr>
        <p:spPr>
          <a:xfrm>
            <a:off x="7086600" y="4105656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Plots/tables + logs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22960" y="4544568"/>
            <a:ext cx="21945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1" name="Text 29"/>
          <p:cNvSpPr/>
          <p:nvPr/>
        </p:nvSpPr>
        <p:spPr>
          <a:xfrm>
            <a:off x="960120" y="463600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(2–3h)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017520" y="4544568"/>
            <a:ext cx="3931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3" name="Text 31"/>
          <p:cNvSpPr/>
          <p:nvPr/>
        </p:nvSpPr>
        <p:spPr>
          <a:xfrm>
            <a:off x="3154680" y="463600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evidence means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949440" y="4544568"/>
            <a:ext cx="4846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5" name="Text 33"/>
          <p:cNvSpPr/>
          <p:nvPr/>
        </p:nvSpPr>
        <p:spPr>
          <a:xfrm>
            <a:off x="7086600" y="463600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paragraph(s)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822960" y="5074920"/>
            <a:ext cx="21945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7" name="Text 35"/>
          <p:cNvSpPr/>
          <p:nvPr/>
        </p:nvSpPr>
        <p:spPr>
          <a:xfrm>
            <a:off x="960120" y="516636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(30–60m)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017520" y="5074920"/>
            <a:ext cx="3931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9" name="Text 37"/>
          <p:cNvSpPr/>
          <p:nvPr/>
        </p:nvSpPr>
        <p:spPr>
          <a:xfrm>
            <a:off x="3154680" y="51663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feedback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949440" y="5074920"/>
            <a:ext cx="4846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1" name="Text 39"/>
          <p:cNvSpPr/>
          <p:nvPr/>
        </p:nvSpPr>
        <p:spPr>
          <a:xfrm>
            <a:off x="7086600" y="516636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+ next actions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822960" y="2423160"/>
            <a:ext cx="10972800" cy="3182112"/>
          </a:xfrm>
          <a:prstGeom prst="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4" name="Text 42"/>
          <p:cNvSpPr/>
          <p:nvPr/>
        </p:nvSpPr>
        <p:spPr>
          <a:xfrm>
            <a:off x="694745" y="5684189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rule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82396" y="5956521"/>
            <a:ext cx="1042416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every session with a “next executable step” (so you can restart easily).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876433" y="6332219"/>
            <a:ext cx="11064240" cy="7442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B7280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beats intensity</a:t>
            </a:r>
            <a:r>
              <a:rPr lang="en-US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</a:p>
          <a:p>
            <a:r>
              <a:rPr lang="en-US" dirty="0"/>
              <a:t>Emphasis: that outputs are small artefacts.
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PROFESSIONALISM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integrity, ethics, and AI tools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credibility is your currency.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109728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04800" indent="-304800">
              <a:lnSpc>
                <a:spcPct val="110000"/>
              </a:lnSpc>
              <a:buSzPct val="100000"/>
              <a:buChar char="•"/>
            </a:pPr>
            <a:r>
              <a:rPr lang="en-US" sz="2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 sources, datasets, and code you use (even if it is “common”)</a:t>
            </a:r>
            <a:endParaRPr lang="en-US" sz="2800" dirty="0"/>
          </a:p>
          <a:p>
            <a:pPr marL="304800" indent="-304800">
              <a:lnSpc>
                <a:spcPct val="110000"/>
              </a:lnSpc>
              <a:buSzPct val="100000"/>
              <a:buChar char="•"/>
            </a:pPr>
            <a:r>
              <a:rPr lang="en-US" sz="2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clean notes to avoid accidental plagiarism</a:t>
            </a:r>
            <a:endParaRPr lang="en-US" sz="2800" dirty="0"/>
          </a:p>
          <a:p>
            <a:pPr marL="304800" indent="-304800">
              <a:lnSpc>
                <a:spcPct val="110000"/>
              </a:lnSpc>
              <a:buSzPct val="100000"/>
              <a:buChar char="•"/>
            </a:pPr>
            <a:r>
              <a:rPr lang="en-US" sz="2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user data: obtain permissions/ethics approval early</a:t>
            </a:r>
            <a:endParaRPr lang="en-US" sz="2800" dirty="0"/>
          </a:p>
          <a:p>
            <a:pPr marL="304800" indent="-304800">
              <a:lnSpc>
                <a:spcPct val="110000"/>
              </a:lnSpc>
              <a:buSzPct val="100000"/>
              <a:buChar char="•"/>
            </a:pPr>
            <a:r>
              <a:rPr lang="en-US" sz="2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using AI tools: disclose per your institution’s policy; verify everything</a:t>
            </a:r>
            <a:endParaRPr lang="en-US" sz="2800" dirty="0"/>
          </a:p>
          <a:p>
            <a:pPr marL="304800" indent="-304800">
              <a:lnSpc>
                <a:spcPct val="110000"/>
              </a:lnSpc>
              <a:buSzPct val="100000"/>
              <a:buChar char="•"/>
            </a:pPr>
            <a:r>
              <a:rPr lang="en-US" sz="2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Reproducibility: keep seeds, configs, logs, and environment details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90600" y="4927600"/>
            <a:ext cx="10424160" cy="88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Practical tip</a:t>
            </a:r>
          </a:p>
          <a:p>
            <a:r>
              <a:rPr lang="en-US" sz="2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a “methods appendix” file while you work (data cleaning, hyperparameters, versions).</a:t>
            </a:r>
            <a:endParaRPr lang="en-US" sz="2000" dirty="0"/>
          </a:p>
          <a:p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is hard to build and easy to lose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97280" y="6263640"/>
            <a:ext cx="1042416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can answer these, you are on track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Use these as weekly prompts.</a:t>
            </a:r>
            <a:endParaRPr lang="en-US" sz="2400" dirty="0">
              <a:highlight>
                <a:srgbClr val="FFFF00"/>
              </a:highlight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109728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30200" indent="-330200">
              <a:lnSpc>
                <a:spcPct val="110000"/>
              </a:lnSpc>
              <a:buSzPct val="100000"/>
              <a:buChar char="•"/>
            </a:pPr>
            <a:r>
              <a:rPr lang="en-US" sz="3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my current RQ (one sentence)?</a:t>
            </a:r>
            <a:endParaRPr lang="en-US" sz="3200" dirty="0"/>
          </a:p>
          <a:p>
            <a:pPr marL="330200" indent="-330200">
              <a:lnSpc>
                <a:spcPct val="110000"/>
              </a:lnSpc>
              <a:buSzPct val="100000"/>
              <a:buChar char="•"/>
            </a:pPr>
            <a:r>
              <a:rPr lang="en-US" sz="3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my baseline, and what metric will decide success?</a:t>
            </a:r>
            <a:endParaRPr lang="en-US" sz="3200" dirty="0"/>
          </a:p>
          <a:p>
            <a:pPr marL="330200" indent="-330200">
              <a:lnSpc>
                <a:spcPct val="110000"/>
              </a:lnSpc>
              <a:buSzPct val="100000"/>
              <a:buChar char="•"/>
            </a:pPr>
            <a:r>
              <a:rPr lang="en-US" sz="3200" dirty="0">
                <a:solidFill>
                  <a:srgbClr val="111827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What evidence did I produce this week (plot/table/draft)?</a:t>
            </a:r>
            <a:endParaRPr lang="en-US" sz="3200" dirty="0">
              <a:highlight>
                <a:srgbClr val="FFFF00"/>
              </a:highlight>
            </a:endParaRPr>
          </a:p>
          <a:p>
            <a:pPr marL="330200" indent="-330200">
              <a:lnSpc>
                <a:spcPct val="110000"/>
              </a:lnSpc>
              <a:buSzPct val="100000"/>
              <a:buChar char="•"/>
            </a:pPr>
            <a:r>
              <a:rPr lang="en-US" sz="3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biggest risk, and what is my mitigation?</a:t>
            </a:r>
            <a:endParaRPr lang="en-US" sz="3200" dirty="0"/>
          </a:p>
          <a:p>
            <a:pPr marL="330200" indent="-330200">
              <a:lnSpc>
                <a:spcPct val="110000"/>
              </a:lnSpc>
              <a:buSzPct val="100000"/>
              <a:buChar char="•"/>
            </a:pPr>
            <a:r>
              <a:rPr lang="en-US" sz="3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decision do I need from my supervisor/peers next?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56920" y="6273800"/>
            <a:ext cx="10855960" cy="492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280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If the answer to #3 is “nothing”, change your plan tomorrow</a:t>
            </a: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Your degree is a training programme for research practice.</a:t>
            </a:r>
            <a:endParaRPr lang="en-US" sz="2400" dirty="0">
              <a:highlight>
                <a:srgbClr val="FFFF00"/>
              </a:highlight>
            </a:endParaRPr>
          </a:p>
        </p:txBody>
      </p:sp>
      <p:sp>
        <p:nvSpPr>
          <p:cNvPr id="6" name="Text 4"/>
          <p:cNvSpPr/>
          <p:nvPr/>
        </p:nvSpPr>
        <p:spPr>
          <a:xfrm>
            <a:off x="690880" y="2331720"/>
            <a:ext cx="11104880" cy="4739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04800" indent="-30480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Honours: guided independence; Master’s: sustained independence + deeper contribution</a:t>
            </a:r>
            <a:endParaRPr lang="en-US" sz="2400" dirty="0"/>
          </a:p>
          <a:p>
            <a:pPr marL="304800" indent="-30480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= systematic question answering with evidence</a:t>
            </a:r>
            <a:endParaRPr lang="en-US" sz="2400" dirty="0"/>
          </a:p>
          <a:p>
            <a:pPr marL="304800" indent="-30480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idea → RQ → contribution (with baselines and metrics)</a:t>
            </a:r>
            <a:endParaRPr lang="en-US" sz="2400" dirty="0"/>
          </a:p>
          <a:p>
            <a:pPr marL="304800" indent="-30480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in milestones and outputs; revise plan based on evidence</a:t>
            </a:r>
            <a:endParaRPr lang="en-US" sz="2400" dirty="0"/>
          </a:p>
          <a:p>
            <a:pPr marL="304800" indent="-30480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common failure modes with weekly rhythm, feedback, and scope control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with one action: write your 1-sentence RQ and Minimum Viable Experiment.</a:t>
            </a:r>
            <a:endParaRPr lang="en-US" sz="2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(selected)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</a:t>
            </a:r>
            <a:r>
              <a:rPr lang="en-US" sz="20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Unizulu’s</a:t>
            </a:r>
            <a:r>
              <a:rPr lang="en-US" sz="2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handbook for exact rules and word counts.</a:t>
            </a:r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10972800" cy="442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Stellenbosch University CS Honours Project: expectations for literature survey, software engineering, testing/evaluation, documentation.</a:t>
            </a:r>
            <a:endParaRPr lang="en-US" sz="18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Pretoria Yearbook (BScHons Computer Science): programme structure/credits.</a:t>
            </a:r>
            <a:endParaRPr lang="en-US" sz="18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UKZN thesis/dissertation presentation guidelines (word-count guidance).</a:t>
            </a:r>
            <a:endParaRPr lang="en-US" sz="18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 (HHS) definition of research (systematic investigation → generalisable knowledge).</a:t>
            </a:r>
            <a:endParaRPr lang="en-US" sz="18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orientation notes (Slide Recommendations; Monday Sketch).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department-specific policy links here.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505</TotalTime>
  <Words>3019</Words>
  <Application>Microsoft Office PowerPoint</Application>
  <PresentationFormat>Widescreen</PresentationFormat>
  <Paragraphs>372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ADLaM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School of Computer Science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PG Orientation Programme</dc:creator>
  <cp:lastModifiedBy>Matthew Olusegun Adigun</cp:lastModifiedBy>
  <cp:revision>7</cp:revision>
  <dcterms:created xsi:type="dcterms:W3CDTF">2026-02-28T19:02:58Z</dcterms:created>
  <dcterms:modified xsi:type="dcterms:W3CDTF">2026-03-02T11:07:15Z</dcterms:modified>
</cp:coreProperties>
</file>