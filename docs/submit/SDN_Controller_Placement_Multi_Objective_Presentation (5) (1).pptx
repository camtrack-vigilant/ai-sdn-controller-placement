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EF436D9-E665-9F5D-8303-4671858835B0}" v="103" dt="2026-05-22T20:41:01.257"/>
    <p1510:client id="{A1499760-33EB-8644-C4DF-09CA0976C3B6}" v="172" dt="2026-05-22T21:45:06.59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22885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2913063" y="0"/>
            <a:ext cx="2228850" cy="458788"/>
          </a:xfrm>
          <a:prstGeom prst="rect">
            <a:avLst/>
          </a:prstGeom>
        </p:spPr>
        <p:txBody>
          <a:bodyPr vert="horz" lIns="91440" tIns="45720" rIns="91440" bIns="45720" rtlCol="0"/>
          <a:lstStyle>
            <a:lvl1pPr algn="r">
              <a:defRPr sz="1200"/>
            </a:lvl1pPr>
          </a:lstStyle>
          <a:p>
            <a:fld id="{C70CCC87-9744-4BF7-8DF6-29AF65332ECE}" type="datetimeFigureOut">
              <a:t>5/22/2026</a:t>
            </a:fld>
            <a:endParaRPr lang="en-US"/>
          </a:p>
        </p:txBody>
      </p:sp>
      <p:sp>
        <p:nvSpPr>
          <p:cNvPr id="4" name="Slide Image Placeholder 3"/>
          <p:cNvSpPr>
            <a:spLocks noGrp="1" noRot="1" noChangeAspect="1"/>
          </p:cNvSpPr>
          <p:nvPr>
            <p:ph type="sldImg" idx="2"/>
          </p:nvPr>
        </p:nvSpPr>
        <p:spPr>
          <a:xfrm>
            <a:off x="-17145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514350" y="4400550"/>
            <a:ext cx="41148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22885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2913063" y="8685213"/>
            <a:ext cx="2228850" cy="458787"/>
          </a:xfrm>
          <a:prstGeom prst="rect">
            <a:avLst/>
          </a:prstGeom>
        </p:spPr>
        <p:txBody>
          <a:bodyPr vert="horz" lIns="91440" tIns="45720" rIns="91440" bIns="45720" rtlCol="0" anchor="b"/>
          <a:lstStyle>
            <a:lvl1pPr algn="r">
              <a:defRPr sz="1200"/>
            </a:lvl1pPr>
          </a:lstStyle>
          <a:p>
            <a:fld id="{001DA038-B41C-439C-9C34-A3CFB5D56A59}" type="slidenum">
              <a:t>‹#›</a:t>
            </a:fld>
            <a:endParaRPr lang="en-US"/>
          </a:p>
        </p:txBody>
      </p:sp>
    </p:spTree>
    <p:extLst>
      <p:ext uri="{BB962C8B-B14F-4D97-AF65-F5344CB8AC3E}">
        <p14:creationId xmlns:p14="http://schemas.microsoft.com/office/powerpoint/2010/main" val="15509301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solidFill>
                  <a:schemeClr val="bg1">
                    <a:lumMod val="76000"/>
                  </a:schemeClr>
                </a:solidFill>
              </a:rPr>
              <a:t>Respected markup team, this Honours presentation outlines a decision-grade multi-objective benchmarking framework linking mathematical graph algorithms directly to live physical kernel emulations. Maps to Proposal §1 + Rubric: Title and Research Focus (5%)</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solidFill>
                  <a:schemeClr val="bg1">
                    <a:lumMod val="76000"/>
                  </a:schemeClr>
                </a:solidFill>
              </a:rPr>
              <a:t>Moving from a tightly coupled, vulnerable centralized control plane to distributed active-standby clusters is critical for scaling SDN across multi-site backbones. However, placing these controllers forces a multi-axis decision dilemma. Controller placement design is inherently a multi-objective trade-off problem across routing latency L, dual backup coverage reliability, and the consensus complexity tax Omega. So what: controller placement is a decision problem across Latency (L), Reliability (</a:t>
            </a:r>
            <a:r>
              <a:rPr lang="en-US" dirty="0" err="1">
                <a:solidFill>
                  <a:schemeClr val="bg1">
                    <a:lumMod val="76000"/>
                  </a:schemeClr>
                </a:solidFill>
              </a:rPr>
              <a:t>Reach_avg</a:t>
            </a:r>
            <a:r>
              <a:rPr lang="en-US" dirty="0">
                <a:solidFill>
                  <a:schemeClr val="bg1">
                    <a:lumMod val="76000"/>
                  </a:schemeClr>
                </a:solidFill>
              </a:rPr>
              <a:t>), and Complexity (ω) — see Proposal §6 &amp; Rubric: Background (15%)</a:t>
            </a:r>
            <a:endParaRPr lang="en-US" dirty="0">
              <a:solidFill>
                <a:schemeClr val="bg1">
                  <a:lumMod val="76000"/>
                </a:schemeClr>
              </a:solidFill>
              <a:ea typeface="Calibri"/>
              <a:cs typeface="Calibri"/>
            </a:endParaRP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solidFill>
                  <a:schemeClr val="bg1">
                    <a:lumMod val="76000"/>
                  </a:schemeClr>
                </a:solidFill>
              </a:rPr>
              <a:t>Prior work almost exclusively treats controller placement as a single-metric routing latency optimization. This fails under physical stress: ignoring state-synchronization consensus Omega desynchronizes controllers, while zero backup coverage isolates switches during controller deaths. This study addresses this exact gap by connecting theoretical multi-objective math formulations directly to live Open </a:t>
            </a:r>
            <a:r>
              <a:rPr lang="en-US" dirty="0" err="1">
                <a:solidFill>
                  <a:schemeClr val="bg1">
                    <a:lumMod val="76000"/>
                  </a:schemeClr>
                </a:solidFill>
              </a:rPr>
              <a:t>vSwitch</a:t>
            </a:r>
            <a:r>
              <a:rPr lang="en-US" dirty="0">
                <a:solidFill>
                  <a:schemeClr val="bg1">
                    <a:lumMod val="76000"/>
                  </a:schemeClr>
                </a:solidFill>
              </a:rPr>
              <a:t> stress emulations. Maps to Proposal §3: Problem Statement — Rubric: Problem Statement (20%)</a:t>
            </a:r>
            <a:endParaRPr lang="en-US" dirty="0">
              <a:solidFill>
                <a:schemeClr val="bg1">
                  <a:lumMod val="76000"/>
                </a:schemeClr>
              </a:solidFill>
              <a:ea typeface="Calibri"/>
              <a:cs typeface="Calibri"/>
            </a:endParaRP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solidFill>
                  <a:schemeClr val="bg1">
                    <a:lumMod val="76000"/>
                  </a:schemeClr>
                </a:solidFill>
              </a:rPr>
              <a:t>To bridge this gap, my research aim is to formulate, implement, and validate a decision-grade framework. Our four clean objectives are: Objective 1, build a reproducible, config-driven emulator pipeline in Mininet/Ryu with fixed seeding 42. Objective 2, benchmark DQN vs Greedy and K-Center across Internet2 and ATT-MPLS at budgets 2, 3, and 5. Objective 3, produce auditable metrics including latency, reachability, and complexity tax, publishing these artifacts. Objective 4, synthesize Pareto frontiers and derive scenario-conditioned selection rules. Maps to Proposal §4 + Rubric: Aim &amp; Objectives (15%)</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solidFill>
                  <a:schemeClr val="bg1">
                    <a:lumMod val="76000"/>
                  </a:schemeClr>
                </a:solidFill>
              </a:rPr>
              <a:t>Our methodology adopts a rigorous positivist and deductive approach implemented through a two-tier pipeline. Tier One models a network graph G(V,E) performing Pareto sweeps via Genetic and Multi-Armed Bandit solvers. Tier Two translates these coordinates into physical namespaces within Mininet, running Open </a:t>
            </a:r>
            <a:r>
              <a:rPr lang="en-US" dirty="0" err="1">
                <a:solidFill>
                  <a:schemeClr val="bg1">
                    <a:lumMod val="76000"/>
                  </a:schemeClr>
                </a:solidFill>
              </a:rPr>
              <a:t>vSwitch</a:t>
            </a:r>
            <a:r>
              <a:rPr lang="en-US" dirty="0">
                <a:solidFill>
                  <a:schemeClr val="bg1">
                    <a:lumMod val="76000"/>
                  </a:schemeClr>
                </a:solidFill>
              </a:rPr>
              <a:t>, Ryu controller daemons, and injecting saturated background traffic storms with iperf3. Maps to Proposal §8: Methodology — Rubric: Methodology (20%)</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solidFill>
                  <a:schemeClr val="bg1">
                    <a:lumMod val="76000"/>
                  </a:schemeClr>
                </a:solidFill>
              </a:rPr>
              <a:t>This slide presents our validated pilot evidence of feasibility, which demonstrates that the proposed study remains highly tractable on local departmental servers. The DQN pilot converged efficiently in under 1.13 seconds, completing 500 training steps over 50 episodes with a stable mean reward of 11.385 and extremely low variance. Additionally, running multi-seed reliability sweeps over the shortlist successfully matched the target reliability rating of 1.0. Maps to Proposal §11 feasibility &amp; Rubric: Methodology &amp; Feasibility</a:t>
            </a:r>
            <a:endParaRPr lang="en-US" dirty="0">
              <a:solidFill>
                <a:schemeClr val="bg1">
                  <a:lumMod val="76000"/>
                </a:schemeClr>
              </a:solidFill>
              <a:ea typeface="Calibri"/>
              <a:cs typeface="Calibri"/>
            </a:endParaRP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solidFill>
                  <a:schemeClr val="bg1">
                    <a:lumMod val="76000"/>
                  </a:schemeClr>
                </a:solidFill>
              </a:rPr>
              <a:t>Our Phase-6 validation addresses theoretical-to-physical translation. On the canonical Internet2 network, our topology-native greedy k-center search successfully allocated three controllers, yielding perfect backup coverage R=1.0 and a best RTT of 4.415 milliseconds under Full traffic storm conditions. Subtracting the graph distance from physical RTT shows a namespace scheduling delay delta of 2.19ms, proving that the translation is stable and predictable. Maps to Proposal §8 &amp; Rubric: Methodology &amp; Contribution</a:t>
            </a:r>
            <a:endParaRPr lang="en-US" dirty="0">
              <a:solidFill>
                <a:schemeClr val="bg1">
                  <a:lumMod val="76000"/>
                </a:schemeClr>
              </a:solidFill>
              <a:ea typeface="Calibri"/>
              <a:cs typeface="Calibri"/>
            </a:endParaRP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solidFill>
                  <a:schemeClr val="bg1">
                    <a:lumMod val="76000"/>
                  </a:schemeClr>
                </a:solidFill>
              </a:rPr>
              <a:t>Our expected contribution covers three clear outputs: first, a theoretical MOCO pipeline and complexity tax definition; second, a practical reproducible solver-to-emulator suite with open configurations; third, a policy-level operator decision matrix advising when to deploy Candidate #1 for speed or Candidate #5 to slash consensus overhead. Maps to Proposal §5 &amp; Rubric: Contribution (15%)</a:t>
            </a:r>
            <a:endParaRPr lang="en-US" dirty="0">
              <a:solidFill>
                <a:schemeClr val="bg1">
                  <a:lumMod val="76000"/>
                </a:schemeClr>
              </a:solidFill>
              <a:ea typeface="Calibri"/>
              <a:cs typeface="Calibri"/>
            </a:endParaRP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solidFill>
                  <a:schemeClr val="bg1">
                    <a:lumMod val="76000"/>
                  </a:schemeClr>
                </a:solidFill>
              </a:rPr>
              <a:t>To preserve evaluation integrity, we explicitly mitigate known architectural boundaries. CPU context-switching noise in virtualized environments is eliminated by pinning dedicated kernel logical threads. Scale barriers in extremely large graphs like ATT-MPLS are bypassed by designing hierarchical nesting clusters to prevent state space explosion. DQN gradient and policy stability are secured with fixed random seed 42 and progressive replay buffers. Maps to Rubric: Feasibility &amp; Quality</a:t>
            </a:r>
            <a:endParaRPr lang="en-US" dirty="0">
              <a:solidFill>
                <a:schemeClr val="bg1">
                  <a:lumMod val="76000"/>
                </a:schemeClr>
              </a:solidFill>
              <a:ea typeface="Calibri"/>
              <a:cs typeface="Calibri"/>
            </a:endParaRP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solidFill>
                  <a:schemeClr val="bg1">
                    <a:lumMod val="76000"/>
                  </a:schemeClr>
                </a:solidFill>
              </a:rPr>
              <a:t>In conclusion, this proposal is data-backed and fully ready to proceed. Our pilot DQN runtime of 0.0226 seconds per episode demonstrates that the full fifty thousand factorial sweeps can be completed in just eighteen minutes. I respectfully request approval to run our full factorial design and initiate our ethics sign-off timeline, pledging to deliver a complete thesis, open-source repository, stable dataset, and prototype. Thank you, I welcome your questions. Maps to Rubric: Clarity &amp; Presentation (5%)</a:t>
            </a:r>
            <a:endParaRPr lang="en-US" dirty="0">
              <a:solidFill>
                <a:schemeClr val="bg1">
                  <a:lumMod val="76000"/>
                </a:schemeClr>
              </a:solidFill>
              <a:ea typeface="Calibri"/>
              <a:cs typeface="Calibri"/>
            </a:endParaRP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457200" y="365760"/>
            <a:ext cx="11247120" cy="274320"/>
          </a:xfrm>
          <a:prstGeom prst="rect">
            <a:avLst/>
          </a:prstGeom>
          <a:noFill/>
          <a:ln/>
        </p:spPr>
        <p:txBody>
          <a:bodyPr wrap="square" rtlCol="0" anchor="ctr"/>
          <a:lstStyle/>
          <a:p>
            <a:pPr marL="0" indent="0">
              <a:buNone/>
            </a:pPr>
            <a:r>
              <a:rPr lang="en-US" sz="1000" b="1" dirty="0">
                <a:solidFill>
                  <a:srgbClr val="2DD4BF"/>
                </a:solidFill>
                <a:latin typeface="Arial" pitchFamily="34" charset="0"/>
                <a:ea typeface="Arial" pitchFamily="34" charset="-122"/>
                <a:cs typeface="Arial" pitchFamily="34" charset="-120"/>
              </a:rPr>
              <a:t>HONOURS PRESENTATION PROPOSAL • TITLE AND RESEARCH FOCUS</a:t>
            </a:r>
            <a:endParaRPr lang="en-US" sz="1000" dirty="0"/>
          </a:p>
        </p:txBody>
      </p:sp>
      <p:sp>
        <p:nvSpPr>
          <p:cNvPr id="3" name="Text 1"/>
          <p:cNvSpPr/>
          <p:nvPr/>
        </p:nvSpPr>
        <p:spPr>
          <a:xfrm>
            <a:off x="457200" y="1280160"/>
            <a:ext cx="8406680" cy="13063"/>
          </a:xfrm>
          <a:prstGeom prst="rect">
            <a:avLst/>
          </a:prstGeom>
          <a:noFill/>
          <a:ln/>
        </p:spPr>
        <p:txBody>
          <a:bodyPr wrap="square" lIns="0" tIns="0" rIns="0" bIns="0" rtlCol="0" anchor="ctr"/>
          <a:lstStyle/>
          <a:p>
            <a:pPr marL="0" indent="0" algn="l">
              <a:buNone/>
            </a:pPr>
            <a:r>
              <a:rPr lang="en-US" sz="3200" b="1" dirty="0">
                <a:solidFill>
                  <a:srgbClr val="F8FAFC"/>
                </a:solidFill>
                <a:latin typeface="Helvetica" pitchFamily="34" charset="0"/>
                <a:ea typeface="Helvetica" pitchFamily="34" charset="-122"/>
                <a:cs typeface="Helvetica" pitchFamily="34" charset="-120"/>
              </a:rPr>
              <a:t>Multi-Objective Decision Analysis for SDN Controller Placement</a:t>
            </a:r>
            <a:endParaRPr lang="en-US" sz="3200" dirty="0"/>
          </a:p>
        </p:txBody>
      </p:sp>
      <p:sp>
        <p:nvSpPr>
          <p:cNvPr id="4" name="Text 2"/>
          <p:cNvSpPr/>
          <p:nvPr/>
        </p:nvSpPr>
        <p:spPr>
          <a:xfrm>
            <a:off x="457200" y="1883593"/>
            <a:ext cx="8401958" cy="594722"/>
          </a:xfrm>
          <a:prstGeom prst="rect">
            <a:avLst/>
          </a:prstGeom>
          <a:noFill/>
          <a:ln/>
        </p:spPr>
        <p:txBody>
          <a:bodyPr wrap="square" rtlCol="0" anchor="ctr"/>
          <a:lstStyle/>
          <a:p>
            <a:pPr marL="0" indent="0" algn="l">
              <a:buNone/>
            </a:pPr>
            <a:r>
              <a:rPr lang="en-US" sz="1400" dirty="0">
                <a:solidFill>
                  <a:srgbClr val="94A3B8"/>
                </a:solidFill>
                <a:latin typeface="Arial" pitchFamily="34" charset="0"/>
                <a:ea typeface="Arial" pitchFamily="34" charset="-122"/>
                <a:cs typeface="Arial" pitchFamily="34" charset="-120"/>
              </a:rPr>
              <a:t>Decision-Grade Multi-Objective Benchmarking of SDN Controller Placement — Multi-axis evidence for operational decisions</a:t>
            </a:r>
            <a:endParaRPr lang="en-US" sz="1400" dirty="0"/>
          </a:p>
        </p:txBody>
      </p:sp>
      <p:sp>
        <p:nvSpPr>
          <p:cNvPr id="5" name="Shape 3"/>
          <p:cNvSpPr/>
          <p:nvPr/>
        </p:nvSpPr>
        <p:spPr>
          <a:xfrm>
            <a:off x="457200" y="2569754"/>
            <a:ext cx="3657600" cy="45720"/>
          </a:xfrm>
          <a:prstGeom prst="rect">
            <a:avLst/>
          </a:prstGeom>
          <a:solidFill>
            <a:srgbClr val="2DD4BF"/>
          </a:solidFill>
          <a:ln/>
        </p:spPr>
      </p:sp>
      <p:sp>
        <p:nvSpPr>
          <p:cNvPr id="6" name="Shape 4"/>
          <p:cNvSpPr/>
          <p:nvPr/>
        </p:nvSpPr>
        <p:spPr>
          <a:xfrm>
            <a:off x="366486" y="2881811"/>
            <a:ext cx="8625478" cy="1645920"/>
          </a:xfrm>
          <a:prstGeom prst="rect">
            <a:avLst/>
          </a:prstGeom>
          <a:solidFill>
            <a:srgbClr val="1E293B"/>
          </a:solidFill>
          <a:ln w="25400">
            <a:solidFill>
              <a:srgbClr val="2DD4BF"/>
            </a:solidFill>
            <a:prstDash val="solid"/>
          </a:ln>
        </p:spPr>
      </p:sp>
      <p:sp>
        <p:nvSpPr>
          <p:cNvPr id="7" name="Text 5"/>
          <p:cNvSpPr/>
          <p:nvPr/>
        </p:nvSpPr>
        <p:spPr>
          <a:xfrm>
            <a:off x="368663" y="2883263"/>
            <a:ext cx="10515600" cy="274320"/>
          </a:xfrm>
          <a:prstGeom prst="rect">
            <a:avLst/>
          </a:prstGeom>
          <a:noFill/>
          <a:ln/>
        </p:spPr>
        <p:txBody>
          <a:bodyPr wrap="square" rtlCol="0" anchor="ctr"/>
          <a:lstStyle/>
          <a:p>
            <a:pPr marL="0" indent="0">
              <a:buNone/>
            </a:pPr>
            <a:r>
              <a:rPr lang="en-US" sz="1100" b="1" dirty="0">
                <a:solidFill>
                  <a:srgbClr val="F59E0B"/>
                </a:solidFill>
                <a:latin typeface="Arial" pitchFamily="34" charset="0"/>
                <a:ea typeface="Arial" pitchFamily="34" charset="-122"/>
                <a:cs typeface="Arial" pitchFamily="34" charset="-120"/>
              </a:rPr>
              <a:t>CORE RESEARCH THESIS STATE:</a:t>
            </a:r>
            <a:endParaRPr lang="en-US" sz="1100" dirty="0"/>
          </a:p>
        </p:txBody>
      </p:sp>
      <p:sp>
        <p:nvSpPr>
          <p:cNvPr id="8" name="Text 6"/>
          <p:cNvSpPr/>
          <p:nvPr/>
        </p:nvSpPr>
        <p:spPr>
          <a:xfrm>
            <a:off x="368663" y="3329940"/>
            <a:ext cx="8501743" cy="1096554"/>
          </a:xfrm>
          <a:prstGeom prst="rect">
            <a:avLst/>
          </a:prstGeom>
          <a:noFill/>
          <a:ln/>
        </p:spPr>
        <p:txBody>
          <a:bodyPr wrap="square" lIns="91440" tIns="45720" rIns="91440" bIns="45720" rtlCol="0" anchor="ctr"/>
          <a:lstStyle/>
          <a:p>
            <a:pPr marL="0" indent="0">
              <a:buNone/>
            </a:pPr>
            <a:r>
              <a:rPr lang="en-US" sz="1400" i="1" dirty="0">
                <a:solidFill>
                  <a:srgbClr val="F8FAFC"/>
                </a:solidFill>
                <a:latin typeface="Arial"/>
                <a:ea typeface="Arial" pitchFamily="34" charset="-122"/>
                <a:cs typeface="Arial"/>
              </a:rPr>
              <a:t>SDN controller placement must be treated as a multi-objective decision problem, not a single-metric optimization, to guarantee real-world network resilience.</a:t>
            </a:r>
            <a:endParaRPr lang="en-US" sz="1400" dirty="0">
              <a:latin typeface="Arial"/>
              <a:cs typeface="Arial"/>
            </a:endParaRPr>
          </a:p>
        </p:txBody>
      </p:sp>
      <p:sp>
        <p:nvSpPr>
          <p:cNvPr id="9" name="Text 7"/>
          <p:cNvSpPr/>
          <p:nvPr/>
        </p:nvSpPr>
        <p:spPr>
          <a:xfrm>
            <a:off x="5272315" y="365760"/>
            <a:ext cx="3589020" cy="274320"/>
          </a:xfrm>
          <a:prstGeom prst="rect">
            <a:avLst/>
          </a:prstGeom>
          <a:noFill/>
          <a:ln/>
        </p:spPr>
        <p:txBody>
          <a:bodyPr wrap="square" rtlCol="0" anchor="ctr"/>
          <a:lstStyle/>
          <a:p>
            <a:pPr marL="0" indent="0" algn="r">
              <a:buNone/>
            </a:pPr>
            <a:r>
              <a:rPr lang="en-US" sz="900" b="1" dirty="0">
                <a:solidFill>
                  <a:srgbClr val="F59E0B"/>
                </a:solidFill>
                <a:latin typeface="Courier New" pitchFamily="34" charset="0"/>
                <a:ea typeface="Courier New" pitchFamily="34" charset="-122"/>
                <a:cs typeface="Courier New" pitchFamily="34" charset="-120"/>
              </a:rPr>
              <a:t>Target Rehearsal: 0:45 / Speaker timing badge</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457200" y="365760"/>
            <a:ext cx="11247120" cy="274320"/>
          </a:xfrm>
          <a:prstGeom prst="rect">
            <a:avLst/>
          </a:prstGeom>
          <a:noFill/>
          <a:ln/>
        </p:spPr>
        <p:txBody>
          <a:bodyPr wrap="square" lIns="91440" tIns="45720" rIns="91440" bIns="45720" rtlCol="0" anchor="ctr"/>
          <a:lstStyle/>
          <a:p>
            <a:pPr marL="0" indent="0">
              <a:buNone/>
            </a:pPr>
            <a:r>
              <a:rPr lang="en-US" sz="1200" b="1" dirty="0">
                <a:solidFill>
                  <a:srgbClr val="2DD4BF"/>
                </a:solidFill>
                <a:latin typeface="Arial"/>
                <a:ea typeface="Arial" pitchFamily="34" charset="-122"/>
                <a:cs typeface="Arial"/>
              </a:rPr>
              <a:t>BACKGROUND AND CONTEXT • THE DISTRIBUTED TRANSITION</a:t>
            </a:r>
            <a:endParaRPr lang="en-US" sz="1200" dirty="0">
              <a:latin typeface="Arial"/>
              <a:cs typeface="Arial"/>
            </a:endParaRPr>
          </a:p>
        </p:txBody>
      </p:sp>
      <p:sp>
        <p:nvSpPr>
          <p:cNvPr id="3" name="Text 1"/>
          <p:cNvSpPr/>
          <p:nvPr/>
        </p:nvSpPr>
        <p:spPr>
          <a:xfrm>
            <a:off x="457200" y="640080"/>
            <a:ext cx="11247120" cy="365760"/>
          </a:xfrm>
          <a:prstGeom prst="rect">
            <a:avLst/>
          </a:prstGeom>
          <a:noFill/>
          <a:ln/>
        </p:spPr>
        <p:txBody>
          <a:bodyPr wrap="square" rtlCol="0" anchor="ctr"/>
          <a:lstStyle/>
          <a:p>
            <a:pPr marL="0" indent="0">
              <a:buNone/>
            </a:pPr>
            <a:r>
              <a:rPr lang="en-US" sz="2000" b="1" dirty="0">
                <a:solidFill>
                  <a:srgbClr val="F8FAFC"/>
                </a:solidFill>
                <a:latin typeface="Helvetica" pitchFamily="34" charset="0"/>
                <a:ea typeface="Helvetica" pitchFamily="34" charset="-122"/>
                <a:cs typeface="Helvetica" pitchFamily="34" charset="-120"/>
              </a:rPr>
              <a:t>Background: The Distributed Transition</a:t>
            </a:r>
            <a:endParaRPr lang="en-US" sz="2000" dirty="0"/>
          </a:p>
        </p:txBody>
      </p:sp>
      <p:sp>
        <p:nvSpPr>
          <p:cNvPr id="4" name="Text 2"/>
          <p:cNvSpPr/>
          <p:nvPr/>
        </p:nvSpPr>
        <p:spPr>
          <a:xfrm>
            <a:off x="457200" y="1051560"/>
            <a:ext cx="11247120" cy="411480"/>
          </a:xfrm>
          <a:prstGeom prst="rect">
            <a:avLst/>
          </a:prstGeom>
          <a:noFill/>
          <a:ln/>
        </p:spPr>
        <p:txBody>
          <a:bodyPr wrap="square" lIns="91440" tIns="45720" rIns="91440" bIns="45720" rtlCol="0" anchor="ctr"/>
          <a:lstStyle/>
          <a:p>
            <a:pPr marL="0" indent="0">
              <a:buNone/>
            </a:pPr>
            <a:r>
              <a:rPr lang="en-US" sz="1200" dirty="0">
                <a:solidFill>
                  <a:srgbClr val="94A3B8"/>
                </a:solidFill>
                <a:latin typeface="Arial"/>
                <a:ea typeface="Arial" pitchFamily="34" charset="-122"/>
                <a:cs typeface="Arial"/>
              </a:rPr>
              <a:t>The Shift from Centralized Authority to Distributed State Consensus</a:t>
            </a:r>
            <a:endParaRPr lang="en-US" sz="1200">
              <a:latin typeface="Arial"/>
              <a:ea typeface="Calibri"/>
              <a:cs typeface="Arial"/>
            </a:endParaRPr>
          </a:p>
        </p:txBody>
      </p:sp>
      <p:sp>
        <p:nvSpPr>
          <p:cNvPr id="5" name="Shape 3"/>
          <p:cNvSpPr/>
          <p:nvPr/>
        </p:nvSpPr>
        <p:spPr>
          <a:xfrm>
            <a:off x="457200" y="1645920"/>
            <a:ext cx="4117389" cy="3452723"/>
          </a:xfrm>
          <a:prstGeom prst="rect">
            <a:avLst/>
          </a:prstGeom>
          <a:solidFill>
            <a:srgbClr val="1E293B"/>
          </a:solidFill>
          <a:ln w="25400">
            <a:solidFill>
              <a:srgbClr val="EF4444"/>
            </a:solidFill>
            <a:prstDash val="solid"/>
          </a:ln>
        </p:spPr>
      </p:sp>
      <p:sp>
        <p:nvSpPr>
          <p:cNvPr id="6" name="Text 4"/>
          <p:cNvSpPr/>
          <p:nvPr/>
        </p:nvSpPr>
        <p:spPr>
          <a:xfrm>
            <a:off x="731520" y="1920240"/>
            <a:ext cx="4754880" cy="365760"/>
          </a:xfrm>
          <a:prstGeom prst="rect">
            <a:avLst/>
          </a:prstGeom>
          <a:noFill/>
          <a:ln/>
        </p:spPr>
        <p:txBody>
          <a:bodyPr wrap="square" lIns="91440" tIns="45720" rIns="91440" bIns="45720" rtlCol="0" anchor="ctr"/>
          <a:lstStyle/>
          <a:p>
            <a:r>
              <a:rPr lang="en-US" sz="1200" b="1">
                <a:solidFill>
                  <a:srgbClr val="EF4444"/>
                </a:solidFill>
                <a:latin typeface="Arial"/>
                <a:ea typeface="Arial" pitchFamily="34" charset="-122"/>
                <a:cs typeface="Arial"/>
              </a:rPr>
              <a:t>CENTRALIZED LIMITS </a:t>
            </a:r>
            <a:endParaRPr lang="en-US" sz="1200">
              <a:latin typeface="Arial"/>
              <a:cs typeface="Arial"/>
            </a:endParaRPr>
          </a:p>
        </p:txBody>
      </p:sp>
      <p:sp>
        <p:nvSpPr>
          <p:cNvPr id="7" name="Text 5"/>
          <p:cNvSpPr/>
          <p:nvPr/>
        </p:nvSpPr>
        <p:spPr>
          <a:xfrm>
            <a:off x="461945" y="2274785"/>
            <a:ext cx="4097116" cy="2527540"/>
          </a:xfrm>
          <a:prstGeom prst="rect">
            <a:avLst/>
          </a:prstGeom>
          <a:noFill/>
          <a:ln/>
        </p:spPr>
        <p:txBody>
          <a:bodyPr wrap="square" lIns="91440" tIns="45720" rIns="91440" bIns="45720" rtlCol="0" anchor="ctr"/>
          <a:lstStyle/>
          <a:p>
            <a:pPr marL="285750" indent="-285750">
              <a:buFont typeface="Wingdings"/>
              <a:buChar char="v"/>
            </a:pPr>
            <a:r>
              <a:rPr lang="en-US" sz="1400">
                <a:solidFill>
                  <a:srgbClr val="F8FAFC"/>
                </a:solidFill>
                <a:latin typeface="Arial"/>
                <a:ea typeface="Arial" pitchFamily="34" charset="-122"/>
                <a:cs typeface="Arial"/>
              </a:rPr>
              <a:t>Bottlenecks: Single controllers crash under </a:t>
            </a:r>
            <a:r>
              <a:rPr lang="en-US" sz="1400" dirty="0">
                <a:solidFill>
                  <a:srgbClr val="F8FAFC"/>
                </a:solidFill>
                <a:latin typeface="Arial"/>
                <a:ea typeface="Arial" pitchFamily="34" charset="-122"/>
                <a:cs typeface="Arial"/>
              </a:rPr>
              <a:t>packet-in storms generated by multi-site tenants.</a:t>
            </a:r>
            <a:endParaRPr lang="en-US" sz="1400">
              <a:latin typeface="Arial"/>
              <a:ea typeface="Calibri"/>
              <a:cs typeface="Arial"/>
            </a:endParaRPr>
          </a:p>
          <a:p>
            <a:pPr marL="285750" indent="-285750">
              <a:buFont typeface="Wingdings"/>
              <a:buChar char="v"/>
            </a:pPr>
            <a:endParaRPr lang="en-US" sz="1400" dirty="0">
              <a:ea typeface="Calibri"/>
              <a:cs typeface="Calibri"/>
            </a:endParaRPr>
          </a:p>
          <a:p>
            <a:pPr marL="285750" indent="-285750">
              <a:buFont typeface="Wingdings"/>
              <a:buChar char="v"/>
            </a:pPr>
            <a:r>
              <a:rPr lang="en-US" sz="1400">
                <a:solidFill>
                  <a:srgbClr val="F8FAFC"/>
                </a:solidFill>
                <a:latin typeface="Arial"/>
                <a:ea typeface="Arial" pitchFamily="34" charset="-122"/>
                <a:cs typeface="Arial"/>
              </a:rPr>
              <a:t>Point of Catastrophe: A centralized control </a:t>
            </a:r>
            <a:r>
              <a:rPr lang="en-US" sz="1400" dirty="0">
                <a:solidFill>
                  <a:srgbClr val="F8FAFC"/>
                </a:solidFill>
                <a:latin typeface="Arial"/>
                <a:ea typeface="Arial" pitchFamily="34" charset="-122"/>
                <a:cs typeface="Arial"/>
              </a:rPr>
              <a:t>engine forms an absolute single point of system failure.</a:t>
            </a:r>
            <a:endParaRPr lang="en-US" sz="1400">
              <a:latin typeface="Arial"/>
              <a:ea typeface="Calibri"/>
              <a:cs typeface="Arial"/>
            </a:endParaRPr>
          </a:p>
          <a:p>
            <a:pPr marL="0" indent="0">
              <a:buNone/>
            </a:pPr>
            <a:endParaRPr lang="en-US" sz="1400" dirty="0">
              <a:ea typeface="Calibri"/>
              <a:cs typeface="Calibri"/>
            </a:endParaRPr>
          </a:p>
          <a:p>
            <a:pPr marL="0" indent="0">
              <a:buNone/>
            </a:pPr>
            <a:endParaRPr lang="en-US" sz="1400" dirty="0">
              <a:solidFill>
                <a:srgbClr val="F8FAFC"/>
              </a:solidFill>
              <a:latin typeface="Arial"/>
              <a:cs typeface="Arial"/>
            </a:endParaRPr>
          </a:p>
        </p:txBody>
      </p:sp>
      <p:sp>
        <p:nvSpPr>
          <p:cNvPr id="8" name="Shape 6"/>
          <p:cNvSpPr/>
          <p:nvPr/>
        </p:nvSpPr>
        <p:spPr>
          <a:xfrm>
            <a:off x="4901960" y="1645920"/>
            <a:ext cx="4031124" cy="3463506"/>
          </a:xfrm>
          <a:prstGeom prst="rect">
            <a:avLst/>
          </a:prstGeom>
          <a:solidFill>
            <a:srgbClr val="1E293B"/>
          </a:solidFill>
          <a:ln w="25400">
            <a:solidFill>
              <a:srgbClr val="2DD4BF"/>
            </a:solidFill>
            <a:prstDash val="solid"/>
          </a:ln>
        </p:spPr>
      </p:sp>
      <p:sp>
        <p:nvSpPr>
          <p:cNvPr id="9" name="Text 7"/>
          <p:cNvSpPr/>
          <p:nvPr/>
        </p:nvSpPr>
        <p:spPr>
          <a:xfrm>
            <a:off x="5176281" y="1920240"/>
            <a:ext cx="4754880" cy="365760"/>
          </a:xfrm>
          <a:prstGeom prst="rect">
            <a:avLst/>
          </a:prstGeom>
          <a:noFill/>
          <a:ln/>
        </p:spPr>
        <p:txBody>
          <a:bodyPr wrap="square" rtlCol="0" anchor="ctr"/>
          <a:lstStyle/>
          <a:p>
            <a:pPr marL="0" indent="0">
              <a:buNone/>
            </a:pPr>
            <a:r>
              <a:rPr lang="en-US" sz="1200" b="1" dirty="0">
                <a:solidFill>
                  <a:srgbClr val="2DD4BF"/>
                </a:solidFill>
                <a:latin typeface="Arial" pitchFamily="34" charset="0"/>
                <a:ea typeface="Arial" pitchFamily="34" charset="-122"/>
                <a:cs typeface="Arial" pitchFamily="34" charset="-120"/>
              </a:rPr>
              <a:t>THE SHIFT TO ACTIVE-STANDBY CLUSTERS</a:t>
            </a:r>
            <a:endParaRPr lang="en-US" sz="1200" dirty="0"/>
          </a:p>
        </p:txBody>
      </p:sp>
      <p:sp>
        <p:nvSpPr>
          <p:cNvPr id="10" name="Text 8"/>
          <p:cNvSpPr/>
          <p:nvPr/>
        </p:nvSpPr>
        <p:spPr>
          <a:xfrm>
            <a:off x="5176280" y="2576710"/>
            <a:ext cx="3741277" cy="2150135"/>
          </a:xfrm>
          <a:prstGeom prst="rect">
            <a:avLst/>
          </a:prstGeom>
          <a:noFill/>
          <a:ln/>
        </p:spPr>
        <p:txBody>
          <a:bodyPr wrap="square" lIns="91440" tIns="45720" rIns="91440" bIns="45720" rtlCol="0" anchor="ctr"/>
          <a:lstStyle/>
          <a:p>
            <a:pPr marL="285750" indent="-285750">
              <a:buFont typeface="Wingdings"/>
              <a:buChar char="ü"/>
            </a:pPr>
            <a:r>
              <a:rPr lang="en-US" sz="1400">
                <a:solidFill>
                  <a:srgbClr val="F8FAFC"/>
                </a:solidFill>
                <a:latin typeface="Arial"/>
                <a:ea typeface="Arial" pitchFamily="34" charset="-122"/>
                <a:cs typeface="Arial"/>
              </a:rPr>
              <a:t>Scale-Out Architecture: Deploying multiple </a:t>
            </a:r>
            <a:r>
              <a:rPr lang="en-US" sz="1400" dirty="0">
                <a:solidFill>
                  <a:srgbClr val="F8FAFC"/>
                </a:solidFill>
                <a:latin typeface="Arial"/>
                <a:ea typeface="Arial" pitchFamily="34" charset="-122"/>
                <a:cs typeface="Arial"/>
              </a:rPr>
              <a:t>active coordinating instances solves local scalability limits.</a:t>
            </a:r>
            <a:endParaRPr lang="en-US" sz="1400">
              <a:latin typeface="Arial"/>
              <a:ea typeface="Calibri"/>
              <a:cs typeface="Arial"/>
            </a:endParaRPr>
          </a:p>
          <a:p>
            <a:pPr marL="285750" indent="-285750">
              <a:buFont typeface="Wingdings"/>
              <a:buChar char="ü"/>
            </a:pPr>
            <a:endParaRPr lang="en-US" sz="1400" dirty="0">
              <a:ea typeface="Calibri"/>
              <a:cs typeface="Calibri"/>
            </a:endParaRPr>
          </a:p>
          <a:p>
            <a:pPr marL="285750" indent="-285750">
              <a:buFont typeface="Wingdings"/>
              <a:buChar char="ü"/>
            </a:pPr>
            <a:r>
              <a:rPr lang="en-US" sz="1400">
                <a:solidFill>
                  <a:srgbClr val="F8FAFC"/>
                </a:solidFill>
                <a:latin typeface="Arial"/>
                <a:ea typeface="Arial" pitchFamily="34" charset="-122"/>
                <a:cs typeface="Arial"/>
              </a:rPr>
              <a:t>Reconfigured Trade-offs: </a:t>
            </a:r>
            <a:r>
              <a:rPr lang="en-US" sz="1400" dirty="0">
                <a:solidFill>
                  <a:srgbClr val="F8FAFC"/>
                </a:solidFill>
                <a:latin typeface="Arial"/>
                <a:ea typeface="Arial" pitchFamily="34" charset="-122"/>
                <a:cs typeface="Arial"/>
              </a:rPr>
              <a:t>Establishes a classic multi-axis trade-off problem across L, R, and consensus Omega.</a:t>
            </a:r>
            <a:endParaRPr lang="en-US" sz="1400">
              <a:latin typeface="Arial"/>
              <a:ea typeface="Calibri"/>
              <a:cs typeface="Arial"/>
            </a:endParaRPr>
          </a:p>
          <a:p>
            <a:pPr marL="285750" indent="-285750">
              <a:buFont typeface="Wingdings"/>
              <a:buChar char="ü"/>
            </a:pPr>
            <a:endParaRPr lang="en-US" sz="1400" dirty="0">
              <a:ea typeface="Calibri"/>
              <a:cs typeface="Calibri"/>
            </a:endParaRPr>
          </a:p>
          <a:p>
            <a:pPr marL="285750" indent="-285750">
              <a:buFont typeface="Wingdings"/>
              <a:buChar char="ü"/>
            </a:pPr>
            <a:r>
              <a:rPr lang="en-US" sz="1400">
                <a:solidFill>
                  <a:schemeClr val="accent4">
                    <a:lumMod val="76000"/>
                  </a:schemeClr>
                </a:solidFill>
                <a:latin typeface="Arial"/>
                <a:ea typeface="Arial" pitchFamily="34" charset="-122"/>
                <a:cs typeface="Arial"/>
              </a:rPr>
              <a:t>So</a:t>
            </a:r>
            <a:r>
              <a:rPr lang="en-US" sz="1400" dirty="0">
                <a:solidFill>
                  <a:schemeClr val="accent4">
                    <a:lumMod val="76000"/>
                  </a:schemeClr>
                </a:solidFill>
                <a:latin typeface="Arial"/>
                <a:ea typeface="Arial" pitchFamily="34" charset="-122"/>
                <a:cs typeface="Arial"/>
              </a:rPr>
              <a:t> What: Controller placement is a decision problem across L, </a:t>
            </a:r>
            <a:r>
              <a:rPr lang="en-US" sz="1400" err="1">
                <a:solidFill>
                  <a:schemeClr val="accent4">
                    <a:lumMod val="76000"/>
                  </a:schemeClr>
                </a:solidFill>
                <a:latin typeface="Arial"/>
                <a:ea typeface="Arial" pitchFamily="34" charset="-122"/>
                <a:cs typeface="Arial"/>
              </a:rPr>
              <a:t>Reach_avg</a:t>
            </a:r>
            <a:r>
              <a:rPr lang="en-US" sz="1400" dirty="0">
                <a:solidFill>
                  <a:schemeClr val="accent4">
                    <a:lumMod val="76000"/>
                  </a:schemeClr>
                </a:solidFill>
                <a:latin typeface="Arial"/>
                <a:ea typeface="Arial" pitchFamily="34" charset="-122"/>
                <a:cs typeface="Arial"/>
              </a:rPr>
              <a:t>, and Complexity ω — see Proposal §6 &amp; Rubric: Background (15%)</a:t>
            </a:r>
            <a:endParaRPr lang="en-US" sz="1400" dirty="0">
              <a:solidFill>
                <a:schemeClr val="accent4">
                  <a:lumMod val="76000"/>
                </a:schemeClr>
              </a:solidFill>
              <a:latin typeface="Arial"/>
              <a:cs typeface="Arial"/>
            </a:endParaRPr>
          </a:p>
        </p:txBody>
      </p:sp>
      <p:sp>
        <p:nvSpPr>
          <p:cNvPr id="12" name="Text 10"/>
          <p:cNvSpPr/>
          <p:nvPr/>
        </p:nvSpPr>
        <p:spPr>
          <a:xfrm>
            <a:off x="5829300" y="376543"/>
            <a:ext cx="3093002" cy="263537"/>
          </a:xfrm>
          <a:prstGeom prst="rect">
            <a:avLst/>
          </a:prstGeom>
          <a:noFill/>
          <a:ln/>
        </p:spPr>
        <p:txBody>
          <a:bodyPr wrap="square" rtlCol="0" anchor="ctr"/>
          <a:lstStyle/>
          <a:p>
            <a:pPr marL="0" indent="0" algn="r">
              <a:buNone/>
            </a:pPr>
            <a:r>
              <a:rPr lang="en-US" sz="900" b="1" dirty="0">
                <a:solidFill>
                  <a:srgbClr val="F59E0B"/>
                </a:solidFill>
                <a:latin typeface="Courier New" pitchFamily="34" charset="0"/>
                <a:ea typeface="Courier New" pitchFamily="34" charset="-122"/>
                <a:cs typeface="Courier New" pitchFamily="34" charset="-120"/>
              </a:rPr>
              <a:t>Target Duration: 0:45</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457200" y="365760"/>
            <a:ext cx="11247120" cy="274320"/>
          </a:xfrm>
          <a:prstGeom prst="rect">
            <a:avLst/>
          </a:prstGeom>
          <a:noFill/>
          <a:ln/>
        </p:spPr>
        <p:txBody>
          <a:bodyPr wrap="square" lIns="91440" tIns="45720" rIns="91440" bIns="45720" rtlCol="0" anchor="ctr"/>
          <a:lstStyle/>
          <a:p>
            <a:pPr marL="0" indent="0">
              <a:buNone/>
            </a:pPr>
            <a:r>
              <a:rPr lang="en-US" sz="1200" b="1" dirty="0">
                <a:solidFill>
                  <a:srgbClr val="2DD4BF"/>
                </a:solidFill>
                <a:latin typeface="Arial"/>
                <a:ea typeface="Arial" pitchFamily="34" charset="-122"/>
                <a:cs typeface="Arial"/>
              </a:rPr>
              <a:t>PROBLEM STATEMENT &amp; RESEARCH GAP • SPECIFIC JUSTIFICATIONS</a:t>
            </a:r>
            <a:endParaRPr lang="en-US" sz="1200" dirty="0">
              <a:latin typeface="Arial"/>
              <a:cs typeface="Arial"/>
            </a:endParaRPr>
          </a:p>
        </p:txBody>
      </p:sp>
      <p:sp>
        <p:nvSpPr>
          <p:cNvPr id="3" name="Text 1"/>
          <p:cNvSpPr/>
          <p:nvPr/>
        </p:nvSpPr>
        <p:spPr>
          <a:xfrm>
            <a:off x="457200" y="640080"/>
            <a:ext cx="11247120" cy="365760"/>
          </a:xfrm>
          <a:prstGeom prst="rect">
            <a:avLst/>
          </a:prstGeom>
          <a:noFill/>
          <a:ln/>
        </p:spPr>
        <p:txBody>
          <a:bodyPr wrap="square" rtlCol="0" anchor="ctr"/>
          <a:lstStyle/>
          <a:p>
            <a:pPr marL="0" indent="0">
              <a:buNone/>
            </a:pPr>
            <a:r>
              <a:rPr lang="en-US" sz="2000" b="1" dirty="0">
                <a:solidFill>
                  <a:srgbClr val="F8FAFC"/>
                </a:solidFill>
                <a:latin typeface="Helvetica" pitchFamily="34" charset="0"/>
                <a:ea typeface="Helvetica" pitchFamily="34" charset="-122"/>
                <a:cs typeface="Helvetica" pitchFamily="34" charset="-120"/>
              </a:rPr>
              <a:t>Problem Statement &amp; The Latency-Only Fallacy</a:t>
            </a:r>
            <a:endParaRPr lang="en-US" sz="2000" dirty="0"/>
          </a:p>
        </p:txBody>
      </p:sp>
      <p:sp>
        <p:nvSpPr>
          <p:cNvPr id="4" name="Text 2"/>
          <p:cNvSpPr/>
          <p:nvPr/>
        </p:nvSpPr>
        <p:spPr>
          <a:xfrm>
            <a:off x="457200" y="1105475"/>
            <a:ext cx="8389621" cy="357565"/>
          </a:xfrm>
          <a:prstGeom prst="rect">
            <a:avLst/>
          </a:prstGeom>
          <a:noFill/>
          <a:ln/>
        </p:spPr>
        <p:txBody>
          <a:bodyPr wrap="square" lIns="91440" tIns="45720" rIns="91440" bIns="45720" rtlCol="0" anchor="ctr"/>
          <a:lstStyle/>
          <a:p>
            <a:pPr marL="0" indent="0">
              <a:buNone/>
            </a:pPr>
            <a:r>
              <a:rPr lang="en-US" sz="1200" dirty="0">
                <a:solidFill>
                  <a:srgbClr val="94A3B8"/>
                </a:solidFill>
                <a:latin typeface="Arial"/>
                <a:ea typeface="Arial" pitchFamily="34" charset="-122"/>
                <a:cs typeface="Arial"/>
              </a:rPr>
              <a:t>Why Conventional Formulations Fail Under Dynamic Physical Network Storms</a:t>
            </a:r>
            <a:endParaRPr lang="en-US" sz="1200" dirty="0">
              <a:latin typeface="Arial"/>
              <a:cs typeface="Arial"/>
            </a:endParaRPr>
          </a:p>
        </p:txBody>
      </p:sp>
      <p:sp>
        <p:nvSpPr>
          <p:cNvPr id="5" name="Shape 3"/>
          <p:cNvSpPr/>
          <p:nvPr/>
        </p:nvSpPr>
        <p:spPr>
          <a:xfrm>
            <a:off x="501017" y="1485887"/>
            <a:ext cx="4128000" cy="3454435"/>
          </a:xfrm>
          <a:prstGeom prst="rect">
            <a:avLst/>
          </a:prstGeom>
          <a:solidFill>
            <a:srgbClr val="1E293B"/>
          </a:solidFill>
          <a:ln w="25400">
            <a:solidFill>
              <a:srgbClr val="EF4444"/>
            </a:solidFill>
            <a:prstDash val="solid"/>
          </a:ln>
        </p:spPr>
      </p:sp>
      <p:sp>
        <p:nvSpPr>
          <p:cNvPr id="6" name="Text 4"/>
          <p:cNvSpPr/>
          <p:nvPr/>
        </p:nvSpPr>
        <p:spPr>
          <a:xfrm>
            <a:off x="731520" y="1828800"/>
            <a:ext cx="4754880" cy="365760"/>
          </a:xfrm>
          <a:prstGeom prst="rect">
            <a:avLst/>
          </a:prstGeom>
          <a:noFill/>
          <a:ln/>
        </p:spPr>
        <p:txBody>
          <a:bodyPr wrap="square" rtlCol="0" anchor="ctr"/>
          <a:lstStyle/>
          <a:p>
            <a:pPr marL="0" indent="0">
              <a:buNone/>
            </a:pPr>
            <a:r>
              <a:rPr lang="en-US" sz="1200" b="1" dirty="0">
                <a:solidFill>
                  <a:srgbClr val="EF4444"/>
                </a:solidFill>
                <a:latin typeface="Arial" pitchFamily="34" charset="0"/>
                <a:ea typeface="Arial" pitchFamily="34" charset="-122"/>
                <a:cs typeface="Arial" pitchFamily="34" charset="-120"/>
              </a:rPr>
              <a:t>THE FALLACY OF LATENCY-ONLY DESIGNS</a:t>
            </a:r>
            <a:endParaRPr lang="en-US" sz="1200" dirty="0"/>
          </a:p>
        </p:txBody>
      </p:sp>
      <p:sp>
        <p:nvSpPr>
          <p:cNvPr id="7" name="Text 5"/>
          <p:cNvSpPr/>
          <p:nvPr/>
        </p:nvSpPr>
        <p:spPr>
          <a:xfrm>
            <a:off x="532976" y="2312742"/>
            <a:ext cx="4118682" cy="2732417"/>
          </a:xfrm>
          <a:prstGeom prst="rect">
            <a:avLst/>
          </a:prstGeom>
          <a:noFill/>
          <a:ln/>
        </p:spPr>
        <p:txBody>
          <a:bodyPr wrap="square" lIns="91440" tIns="45720" rIns="91440" bIns="45720" rtlCol="0" anchor="ctr"/>
          <a:lstStyle/>
          <a:p>
            <a:pPr marL="0" indent="0">
              <a:buNone/>
            </a:pPr>
            <a:r>
              <a:rPr lang="en-US" sz="1200" dirty="0">
                <a:solidFill>
                  <a:srgbClr val="F8FAFC"/>
                </a:solidFill>
                <a:latin typeface="Arial"/>
                <a:ea typeface="Arial" pitchFamily="34" charset="-122"/>
                <a:cs typeface="Arial"/>
              </a:rPr>
              <a:t>• Ignores Synchronization Overhead (Omega): State syncing (Raft/PBFT) under tight placement constraints can desynchronize controllers or starve packet channels.</a:t>
            </a:r>
            <a:endParaRPr lang="en-US" sz="1200" dirty="0">
              <a:latin typeface="Arial"/>
              <a:ea typeface="Calibri"/>
              <a:cs typeface="Arial"/>
            </a:endParaRPr>
          </a:p>
          <a:p>
            <a:pPr marL="0" indent="0">
              <a:buNone/>
            </a:pPr>
            <a:endParaRPr lang="en-US" sz="1200" dirty="0">
              <a:ea typeface="Calibri"/>
              <a:cs typeface="Calibri"/>
            </a:endParaRPr>
          </a:p>
          <a:p>
            <a:pPr marL="0" indent="0">
              <a:buNone/>
            </a:pPr>
            <a:r>
              <a:rPr lang="en-US" sz="1200" dirty="0">
                <a:solidFill>
                  <a:srgbClr val="F8FAFC"/>
                </a:solidFill>
                <a:latin typeface="Arial"/>
                <a:ea typeface="Arial" pitchFamily="34" charset="-122"/>
                <a:cs typeface="Arial"/>
              </a:rPr>
              <a:t>• Disregards Single Point Failures: Placements with zero secondary hot-standby bindings leave OVS switches isolated during controller deaths.</a:t>
            </a:r>
            <a:endParaRPr lang="en-US" sz="1200" dirty="0">
              <a:latin typeface="Arial"/>
              <a:ea typeface="Calibri"/>
              <a:cs typeface="Arial"/>
            </a:endParaRPr>
          </a:p>
          <a:p>
            <a:pPr marL="0" indent="0">
              <a:buNone/>
            </a:pPr>
            <a:endParaRPr lang="en-US" sz="1200" dirty="0">
              <a:ea typeface="Calibri"/>
              <a:cs typeface="Calibri"/>
            </a:endParaRPr>
          </a:p>
          <a:p>
            <a:pPr marL="0" indent="0">
              <a:buNone/>
            </a:pPr>
            <a:r>
              <a:rPr lang="en-US" sz="1200" dirty="0">
                <a:solidFill>
                  <a:srgbClr val="F8FAFC"/>
                </a:solidFill>
                <a:latin typeface="Arial"/>
                <a:ea typeface="Arial" pitchFamily="34" charset="-122"/>
                <a:cs typeface="Arial"/>
              </a:rPr>
              <a:t>• Simulation-Only Larping: Pre-existing studies compile on paper-thin mathematical graphs with no hardware-level validation.</a:t>
            </a:r>
            <a:endParaRPr lang="en-US" sz="1200" dirty="0">
              <a:latin typeface="Arial"/>
              <a:cs typeface="Arial"/>
            </a:endParaRPr>
          </a:p>
        </p:txBody>
      </p:sp>
      <p:sp>
        <p:nvSpPr>
          <p:cNvPr id="8" name="Shape 6"/>
          <p:cNvSpPr/>
          <p:nvPr/>
        </p:nvSpPr>
        <p:spPr>
          <a:xfrm>
            <a:off x="5106838" y="1484175"/>
            <a:ext cx="3977209" cy="3474289"/>
          </a:xfrm>
          <a:prstGeom prst="rect">
            <a:avLst/>
          </a:prstGeom>
          <a:solidFill>
            <a:srgbClr val="1E293B"/>
          </a:solidFill>
          <a:ln w="25400">
            <a:solidFill>
              <a:srgbClr val="2DD4BF"/>
            </a:solidFill>
            <a:prstDash val="solid"/>
          </a:ln>
        </p:spPr>
      </p:sp>
      <p:sp>
        <p:nvSpPr>
          <p:cNvPr id="9" name="Text 7"/>
          <p:cNvSpPr/>
          <p:nvPr/>
        </p:nvSpPr>
        <p:spPr>
          <a:xfrm>
            <a:off x="5650733" y="1828800"/>
            <a:ext cx="4754880" cy="365760"/>
          </a:xfrm>
          <a:prstGeom prst="rect">
            <a:avLst/>
          </a:prstGeom>
          <a:noFill/>
          <a:ln/>
        </p:spPr>
        <p:txBody>
          <a:bodyPr wrap="square" rtlCol="0" anchor="ctr"/>
          <a:lstStyle/>
          <a:p>
            <a:pPr marL="0" indent="0">
              <a:buNone/>
            </a:pPr>
            <a:r>
              <a:rPr lang="en-US" sz="1200" b="1" dirty="0">
                <a:solidFill>
                  <a:srgbClr val="2DD4BF"/>
                </a:solidFill>
                <a:latin typeface="Arial" pitchFamily="34" charset="0"/>
                <a:ea typeface="Arial" pitchFamily="34" charset="-122"/>
                <a:cs typeface="Arial" pitchFamily="34" charset="-120"/>
              </a:rPr>
              <a:t>CRITICAL RESEARCH QUESTIONS (RQs)</a:t>
            </a:r>
            <a:endParaRPr lang="en-US" sz="1200" dirty="0"/>
          </a:p>
        </p:txBody>
      </p:sp>
      <p:sp>
        <p:nvSpPr>
          <p:cNvPr id="10" name="Text 8"/>
          <p:cNvSpPr/>
          <p:nvPr/>
        </p:nvSpPr>
        <p:spPr>
          <a:xfrm>
            <a:off x="5262545" y="2409789"/>
            <a:ext cx="3849107" cy="2538323"/>
          </a:xfrm>
          <a:prstGeom prst="rect">
            <a:avLst/>
          </a:prstGeom>
          <a:noFill/>
          <a:ln/>
        </p:spPr>
        <p:txBody>
          <a:bodyPr wrap="square" lIns="91440" tIns="45720" rIns="91440" bIns="45720" rtlCol="0" anchor="ctr"/>
          <a:lstStyle/>
          <a:p>
            <a:pPr marL="0" indent="0">
              <a:buNone/>
            </a:pPr>
            <a:r>
              <a:rPr lang="en-US" sz="1200" dirty="0">
                <a:solidFill>
                  <a:srgbClr val="F8FAFC"/>
                </a:solidFill>
                <a:latin typeface="Arial"/>
                <a:ea typeface="Arial" pitchFamily="34" charset="-122"/>
                <a:cs typeface="Arial"/>
              </a:rPr>
              <a:t>Primary RQ: Do AI-driven placement methods produce Pareto-superior operating points on (L, </a:t>
            </a:r>
            <a:r>
              <a:rPr lang="en-US" sz="1200" dirty="0" err="1">
                <a:solidFill>
                  <a:srgbClr val="F8FAFC"/>
                </a:solidFill>
                <a:latin typeface="Arial"/>
                <a:ea typeface="Arial" pitchFamily="34" charset="-122"/>
                <a:cs typeface="Arial"/>
              </a:rPr>
              <a:t>Reach_avg</a:t>
            </a:r>
            <a:r>
              <a:rPr lang="en-US" sz="1200" dirty="0">
                <a:solidFill>
                  <a:srgbClr val="F8FAFC"/>
                </a:solidFill>
                <a:latin typeface="Arial"/>
                <a:ea typeface="Arial" pitchFamily="34" charset="-122"/>
                <a:cs typeface="Arial"/>
              </a:rPr>
              <a:t>, ω) vs. heuristics in multi-site topologies?</a:t>
            </a:r>
            <a:endParaRPr lang="en-US" sz="1200" dirty="0">
              <a:latin typeface="Arial"/>
              <a:ea typeface="Calibri"/>
              <a:cs typeface="Arial"/>
            </a:endParaRPr>
          </a:p>
          <a:p>
            <a:pPr marL="0" indent="0">
              <a:buNone/>
            </a:pPr>
            <a:endParaRPr lang="en-US" sz="1200" dirty="0">
              <a:ea typeface="Calibri"/>
              <a:cs typeface="Calibri"/>
            </a:endParaRPr>
          </a:p>
          <a:p>
            <a:pPr marL="228600" indent="-228600">
              <a:buAutoNum type="arabicPeriod"/>
            </a:pPr>
            <a:r>
              <a:rPr lang="en-US" sz="1200" dirty="0">
                <a:solidFill>
                  <a:srgbClr val="F8FAFC"/>
                </a:solidFill>
                <a:latin typeface="Arial"/>
                <a:ea typeface="Arial" pitchFamily="34" charset="-122"/>
                <a:cs typeface="Arial"/>
              </a:rPr>
              <a:t>Supporting RQ 1: How large is the effect on L and </a:t>
            </a:r>
            <a:r>
              <a:rPr lang="en-US" sz="1200" dirty="0" err="1">
                <a:solidFill>
                  <a:srgbClr val="F8FAFC"/>
                </a:solidFill>
                <a:latin typeface="Arial"/>
                <a:ea typeface="Arial" pitchFamily="34" charset="-122"/>
                <a:cs typeface="Arial"/>
              </a:rPr>
              <a:t>Reach_avg</a:t>
            </a:r>
            <a:r>
              <a:rPr lang="en-US" sz="1200" dirty="0">
                <a:solidFill>
                  <a:srgbClr val="F8FAFC"/>
                </a:solidFill>
                <a:latin typeface="Arial"/>
                <a:ea typeface="Arial" pitchFamily="34" charset="-122"/>
                <a:cs typeface="Arial"/>
              </a:rPr>
              <a:t> per controller budget k∈{2,3,5}?</a:t>
            </a:r>
            <a:endParaRPr lang="en-US" sz="1200" dirty="0">
              <a:latin typeface="Arial"/>
              <a:ea typeface="Calibri"/>
              <a:cs typeface="Arial"/>
            </a:endParaRPr>
          </a:p>
          <a:p>
            <a:pPr marL="228600" indent="-228600">
              <a:buAutoNum type="arabicPeriod"/>
            </a:pPr>
            <a:endParaRPr lang="en-US" sz="1200" dirty="0">
              <a:ea typeface="Calibri"/>
              <a:cs typeface="Calibri"/>
            </a:endParaRPr>
          </a:p>
          <a:p>
            <a:pPr marL="228600" indent="-228600">
              <a:buAutoNum type="arabicPeriod"/>
            </a:pPr>
            <a:r>
              <a:rPr lang="en-US" sz="1200" dirty="0">
                <a:solidFill>
                  <a:srgbClr val="F8FAFC"/>
                </a:solidFill>
                <a:latin typeface="Arial"/>
                <a:ea typeface="Arial" pitchFamily="34" charset="-122"/>
                <a:cs typeface="Arial"/>
              </a:rPr>
              <a:t>Supporting RQ 2: After pricing complexity ω (s/episode), which methods remain practically superior?</a:t>
            </a:r>
            <a:endParaRPr lang="en-US" sz="1200" dirty="0">
              <a:latin typeface="Arial"/>
              <a:cs typeface="Arial"/>
            </a:endParaRPr>
          </a:p>
        </p:txBody>
      </p:sp>
      <p:sp>
        <p:nvSpPr>
          <p:cNvPr id="11" name="Text 9"/>
          <p:cNvSpPr/>
          <p:nvPr/>
        </p:nvSpPr>
        <p:spPr>
          <a:xfrm>
            <a:off x="457200" y="5669280"/>
            <a:ext cx="11247120" cy="457200"/>
          </a:xfrm>
          <a:prstGeom prst="rect">
            <a:avLst/>
          </a:prstGeom>
          <a:noFill/>
          <a:ln/>
        </p:spPr>
        <p:txBody>
          <a:bodyPr wrap="square" rtlCol="0" anchor="ctr"/>
          <a:lstStyle/>
          <a:p>
            <a:pPr marL="0" indent="0">
              <a:buNone/>
            </a:pPr>
            <a:r>
              <a:rPr lang="en-US" sz="1000" i="1" dirty="0">
                <a:solidFill>
                  <a:srgbClr val="F59E0B"/>
                </a:solidFill>
                <a:latin typeface="Arial" pitchFamily="34" charset="0"/>
                <a:ea typeface="Arial" pitchFamily="34" charset="-122"/>
                <a:cs typeface="Arial" pitchFamily="34" charset="-120"/>
              </a:rPr>
              <a:t>SO WHAT? We bridge the academic gap by verifying theoretical fronts inside physical OVS namespaces.</a:t>
            </a:r>
            <a:endParaRPr lang="en-US" sz="1000" dirty="0"/>
          </a:p>
        </p:txBody>
      </p:sp>
      <p:sp>
        <p:nvSpPr>
          <p:cNvPr id="12" name="Text 10"/>
          <p:cNvSpPr/>
          <p:nvPr/>
        </p:nvSpPr>
        <p:spPr>
          <a:xfrm>
            <a:off x="6128657" y="356689"/>
            <a:ext cx="3017520" cy="274320"/>
          </a:xfrm>
          <a:prstGeom prst="rect">
            <a:avLst/>
          </a:prstGeom>
          <a:noFill/>
          <a:ln/>
        </p:spPr>
        <p:txBody>
          <a:bodyPr wrap="square" rtlCol="0" anchor="ctr"/>
          <a:lstStyle/>
          <a:p>
            <a:pPr marL="0" indent="0" algn="r">
              <a:buNone/>
            </a:pPr>
            <a:r>
              <a:rPr lang="en-US" sz="900" b="1" dirty="0">
                <a:solidFill>
                  <a:srgbClr val="F59E0B"/>
                </a:solidFill>
                <a:latin typeface="Courier New" pitchFamily="34" charset="0"/>
                <a:ea typeface="Courier New" pitchFamily="34" charset="-122"/>
                <a:cs typeface="Courier New" pitchFamily="34" charset="-120"/>
              </a:rPr>
              <a:t>Target Duration: 0:45</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457200" y="365760"/>
            <a:ext cx="11247120" cy="274320"/>
          </a:xfrm>
          <a:prstGeom prst="rect">
            <a:avLst/>
          </a:prstGeom>
          <a:noFill/>
          <a:ln/>
        </p:spPr>
        <p:txBody>
          <a:bodyPr wrap="square" lIns="91440" tIns="45720" rIns="91440" bIns="45720" rtlCol="0" anchor="ctr"/>
          <a:lstStyle/>
          <a:p>
            <a:pPr marL="0" indent="0">
              <a:buNone/>
            </a:pPr>
            <a:r>
              <a:rPr lang="en-US" sz="1200" b="1" dirty="0">
                <a:solidFill>
                  <a:srgbClr val="2DD4BF"/>
                </a:solidFill>
                <a:latin typeface="Arial"/>
                <a:ea typeface="Arial" pitchFamily="34" charset="-122"/>
                <a:cs typeface="Arial"/>
              </a:rPr>
              <a:t>AIM &amp; OBJECTIVES • CRITICAL TARGETS</a:t>
            </a:r>
            <a:endParaRPr lang="en-US" sz="1200">
              <a:latin typeface="Arial"/>
              <a:ea typeface="Calibri"/>
              <a:cs typeface="Arial"/>
            </a:endParaRPr>
          </a:p>
        </p:txBody>
      </p:sp>
      <p:sp>
        <p:nvSpPr>
          <p:cNvPr id="3" name="Text 1"/>
          <p:cNvSpPr/>
          <p:nvPr/>
        </p:nvSpPr>
        <p:spPr>
          <a:xfrm>
            <a:off x="457200" y="640080"/>
            <a:ext cx="11247120" cy="365760"/>
          </a:xfrm>
          <a:prstGeom prst="rect">
            <a:avLst/>
          </a:prstGeom>
          <a:noFill/>
          <a:ln/>
        </p:spPr>
        <p:txBody>
          <a:bodyPr wrap="square" rtlCol="0" anchor="ctr"/>
          <a:lstStyle/>
          <a:p>
            <a:pPr marL="0" indent="0">
              <a:buNone/>
            </a:pPr>
            <a:r>
              <a:rPr lang="en-US" sz="2000" b="1" dirty="0">
                <a:solidFill>
                  <a:srgbClr val="F8FAFC"/>
                </a:solidFill>
                <a:latin typeface="Helvetica" pitchFamily="34" charset="0"/>
                <a:ea typeface="Helvetica" pitchFamily="34" charset="-122"/>
                <a:cs typeface="Helvetica" pitchFamily="34" charset="-120"/>
              </a:rPr>
              <a:t>Research Aim &amp; Specific Objectives</a:t>
            </a:r>
            <a:endParaRPr lang="en-US" sz="2000" dirty="0"/>
          </a:p>
        </p:txBody>
      </p:sp>
      <p:sp>
        <p:nvSpPr>
          <p:cNvPr id="4" name="Text 2"/>
          <p:cNvSpPr/>
          <p:nvPr/>
        </p:nvSpPr>
        <p:spPr>
          <a:xfrm>
            <a:off x="457200" y="1051560"/>
            <a:ext cx="11247120" cy="411480"/>
          </a:xfrm>
          <a:prstGeom prst="rect">
            <a:avLst/>
          </a:prstGeom>
          <a:noFill/>
          <a:ln/>
        </p:spPr>
        <p:txBody>
          <a:bodyPr wrap="square" lIns="91440" tIns="45720" rIns="91440" bIns="45720" rtlCol="0" anchor="ctr"/>
          <a:lstStyle/>
          <a:p>
            <a:pPr marL="0" indent="0">
              <a:buNone/>
            </a:pPr>
            <a:r>
              <a:rPr lang="en-US" sz="1200" dirty="0">
                <a:solidFill>
                  <a:srgbClr val="94A3B8"/>
                </a:solidFill>
                <a:latin typeface="Arial"/>
                <a:ea typeface="Arial" pitchFamily="34" charset="-122"/>
                <a:cs typeface="Arial"/>
              </a:rPr>
              <a:t>Actionable Optimization Targets to Address the Gap</a:t>
            </a:r>
            <a:endParaRPr lang="en-US" sz="1200" dirty="0">
              <a:latin typeface="Arial"/>
              <a:cs typeface="Arial"/>
            </a:endParaRPr>
          </a:p>
        </p:txBody>
      </p:sp>
      <p:sp>
        <p:nvSpPr>
          <p:cNvPr id="5" name="Shape 3"/>
          <p:cNvSpPr/>
          <p:nvPr/>
        </p:nvSpPr>
        <p:spPr>
          <a:xfrm>
            <a:off x="457200" y="1721401"/>
            <a:ext cx="8217092" cy="3269412"/>
          </a:xfrm>
          <a:prstGeom prst="rect">
            <a:avLst/>
          </a:prstGeom>
          <a:solidFill>
            <a:srgbClr val="1E293B"/>
          </a:solidFill>
          <a:ln w="25400">
            <a:solidFill>
              <a:srgbClr val="2DD4BF"/>
            </a:solidFill>
            <a:prstDash val="solid"/>
          </a:ln>
        </p:spPr>
      </p:sp>
      <p:sp>
        <p:nvSpPr>
          <p:cNvPr id="6" name="Text 4"/>
          <p:cNvSpPr/>
          <p:nvPr/>
        </p:nvSpPr>
        <p:spPr>
          <a:xfrm>
            <a:off x="731520" y="1920240"/>
            <a:ext cx="10698480" cy="365760"/>
          </a:xfrm>
          <a:prstGeom prst="rect">
            <a:avLst/>
          </a:prstGeom>
          <a:noFill/>
          <a:ln/>
        </p:spPr>
        <p:txBody>
          <a:bodyPr wrap="square" rtlCol="0" anchor="ctr"/>
          <a:lstStyle/>
          <a:p>
            <a:pPr marL="0" indent="0">
              <a:buNone/>
            </a:pPr>
            <a:r>
              <a:rPr lang="en-US" sz="1200" b="1" dirty="0">
                <a:solidFill>
                  <a:srgbClr val="F59E0B"/>
                </a:solidFill>
                <a:latin typeface="Arial" pitchFamily="34" charset="0"/>
                <a:ea typeface="Arial" pitchFamily="34" charset="-122"/>
                <a:cs typeface="Arial" pitchFamily="34" charset="-120"/>
              </a:rPr>
              <a:t>FORMAL RESEARCH OBJECTIVES (PROPOSAL §4.2):</a:t>
            </a:r>
            <a:endParaRPr lang="en-US" sz="1200" dirty="0"/>
          </a:p>
        </p:txBody>
      </p:sp>
      <p:sp>
        <p:nvSpPr>
          <p:cNvPr id="7" name="Text 5"/>
          <p:cNvSpPr/>
          <p:nvPr/>
        </p:nvSpPr>
        <p:spPr>
          <a:xfrm>
            <a:off x="731520" y="2091475"/>
            <a:ext cx="7657669" cy="2937725"/>
          </a:xfrm>
          <a:prstGeom prst="rect">
            <a:avLst/>
          </a:prstGeom>
          <a:noFill/>
          <a:ln/>
        </p:spPr>
        <p:txBody>
          <a:bodyPr wrap="square" lIns="91440" tIns="45720" rIns="91440" bIns="45720" rtlCol="0" anchor="ctr"/>
          <a:lstStyle/>
          <a:p>
            <a:pPr marL="0" indent="0">
              <a:buNone/>
            </a:pPr>
            <a:r>
              <a:rPr lang="en-US" sz="1200" dirty="0">
                <a:solidFill>
                  <a:srgbClr val="F8FAFC"/>
                </a:solidFill>
                <a:latin typeface="Arial"/>
                <a:ea typeface="Arial" pitchFamily="34" charset="-122"/>
                <a:cs typeface="Arial"/>
              </a:rPr>
              <a:t>Objective 1: Build reproducible, config-driven emulator/emulation pipeline (Mininet/Ryu) with fixed seeding (Seed=42).</a:t>
            </a:r>
            <a:endParaRPr lang="en-US" sz="1200" dirty="0">
              <a:latin typeface="Arial"/>
              <a:ea typeface="Calibri"/>
              <a:cs typeface="Arial"/>
            </a:endParaRPr>
          </a:p>
          <a:p>
            <a:pPr marL="0" indent="0">
              <a:buNone/>
            </a:pPr>
            <a:endParaRPr lang="en-US" sz="1200" dirty="0">
              <a:ea typeface="Calibri"/>
              <a:cs typeface="Calibri"/>
            </a:endParaRPr>
          </a:p>
          <a:p>
            <a:pPr marL="0" indent="0">
              <a:buNone/>
            </a:pPr>
            <a:r>
              <a:rPr lang="en-US" sz="1200" dirty="0">
                <a:solidFill>
                  <a:srgbClr val="F8FAFC"/>
                </a:solidFill>
                <a:latin typeface="Arial"/>
                <a:ea typeface="Arial" pitchFamily="34" charset="-122"/>
                <a:cs typeface="Arial"/>
              </a:rPr>
              <a:t>Objective 2: Benchmark DQN vs. Greedy/K‑Center across Internet2 and ATT‑MPLS at k∈{2,3,5}.</a:t>
            </a:r>
            <a:endParaRPr lang="en-US" sz="1200" dirty="0">
              <a:latin typeface="Arial"/>
              <a:ea typeface="Calibri"/>
              <a:cs typeface="Arial"/>
            </a:endParaRPr>
          </a:p>
          <a:p>
            <a:pPr marL="0" indent="0">
              <a:buNone/>
            </a:pPr>
            <a:endParaRPr lang="en-US" sz="1200" dirty="0">
              <a:ea typeface="Calibri"/>
              <a:cs typeface="Calibri"/>
            </a:endParaRPr>
          </a:p>
          <a:p>
            <a:pPr marL="0" indent="0">
              <a:buNone/>
            </a:pPr>
            <a:r>
              <a:rPr lang="en-US" sz="1200" dirty="0">
                <a:solidFill>
                  <a:srgbClr val="F8FAFC"/>
                </a:solidFill>
                <a:latin typeface="Arial"/>
                <a:ea typeface="Arial" pitchFamily="34" charset="-122"/>
                <a:cs typeface="Arial"/>
              </a:rPr>
              <a:t>Objective 3: Produce auditable metrics (L in </a:t>
            </a:r>
            <a:r>
              <a:rPr lang="en-US" sz="1200" dirty="0" err="1">
                <a:solidFill>
                  <a:srgbClr val="F8FAFC"/>
                </a:solidFill>
                <a:latin typeface="Arial"/>
                <a:ea typeface="Arial" pitchFamily="34" charset="-122"/>
                <a:cs typeface="Arial"/>
              </a:rPr>
              <a:t>ms</a:t>
            </a:r>
            <a:r>
              <a:rPr lang="en-US" sz="1200" dirty="0">
                <a:solidFill>
                  <a:srgbClr val="F8FAFC"/>
                </a:solidFill>
                <a:latin typeface="Arial"/>
                <a:ea typeface="Arial" pitchFamily="34" charset="-122"/>
                <a:cs typeface="Arial"/>
              </a:rPr>
              <a:t>, </a:t>
            </a:r>
            <a:r>
              <a:rPr lang="en-US" sz="1200" dirty="0" err="1">
                <a:solidFill>
                  <a:srgbClr val="F8FAFC"/>
                </a:solidFill>
                <a:latin typeface="Arial"/>
                <a:ea typeface="Arial" pitchFamily="34" charset="-122"/>
                <a:cs typeface="Arial"/>
              </a:rPr>
              <a:t>Reach_avg</a:t>
            </a:r>
            <a:r>
              <a:rPr lang="en-US" sz="1200" dirty="0">
                <a:solidFill>
                  <a:srgbClr val="F8FAFC"/>
                </a:solidFill>
                <a:latin typeface="Arial"/>
                <a:ea typeface="Arial" pitchFamily="34" charset="-122"/>
                <a:cs typeface="Arial"/>
              </a:rPr>
              <a:t> 0–1 under N‑1, ω in s/episode) and publish artifacts.</a:t>
            </a:r>
            <a:endParaRPr lang="en-US" sz="1200" dirty="0">
              <a:latin typeface="Arial"/>
              <a:ea typeface="Calibri"/>
              <a:cs typeface="Arial"/>
            </a:endParaRPr>
          </a:p>
          <a:p>
            <a:pPr marL="0" indent="0">
              <a:buNone/>
            </a:pPr>
            <a:endParaRPr lang="en-US" sz="1200" dirty="0">
              <a:ea typeface="Calibri"/>
              <a:cs typeface="Calibri"/>
            </a:endParaRPr>
          </a:p>
          <a:p>
            <a:pPr marL="0" indent="0">
              <a:buNone/>
            </a:pPr>
            <a:r>
              <a:rPr lang="en-US" sz="1200" dirty="0">
                <a:solidFill>
                  <a:srgbClr val="F8FAFC"/>
                </a:solidFill>
                <a:latin typeface="Arial"/>
                <a:ea typeface="Arial" pitchFamily="34" charset="-122"/>
                <a:cs typeface="Arial"/>
              </a:rPr>
              <a:t>Objective 4: Synthesize Pareto front and derive scenario-conditioned selection rules.</a:t>
            </a:r>
            <a:endParaRPr lang="en-US" sz="1200" dirty="0">
              <a:latin typeface="Arial"/>
              <a:cs typeface="Arial"/>
            </a:endParaRPr>
          </a:p>
        </p:txBody>
      </p:sp>
      <p:sp>
        <p:nvSpPr>
          <p:cNvPr id="8" name="Text 6"/>
          <p:cNvSpPr/>
          <p:nvPr/>
        </p:nvSpPr>
        <p:spPr>
          <a:xfrm>
            <a:off x="457200" y="5669280"/>
            <a:ext cx="11247120" cy="457200"/>
          </a:xfrm>
          <a:prstGeom prst="rect">
            <a:avLst/>
          </a:prstGeom>
          <a:noFill/>
          <a:ln/>
        </p:spPr>
        <p:txBody>
          <a:bodyPr wrap="square" rtlCol="0" anchor="ctr"/>
          <a:lstStyle/>
          <a:p>
            <a:pPr marL="0" indent="0">
              <a:buNone/>
            </a:pPr>
            <a:r>
              <a:rPr lang="en-US" sz="1000" i="1" dirty="0">
                <a:solidFill>
                  <a:srgbClr val="F59E0B"/>
                </a:solidFill>
                <a:latin typeface="Arial" pitchFamily="34" charset="0"/>
                <a:ea typeface="Arial" pitchFamily="34" charset="-122"/>
                <a:cs typeface="Arial" pitchFamily="34" charset="-120"/>
              </a:rPr>
              <a:t>SO WHAT? These deliverables systematically address every requirement of the Honours evaluation rubric.</a:t>
            </a:r>
            <a:endParaRPr lang="en-US" sz="1000" dirty="0"/>
          </a:p>
        </p:txBody>
      </p:sp>
      <p:sp>
        <p:nvSpPr>
          <p:cNvPr id="9" name="Text 7"/>
          <p:cNvSpPr/>
          <p:nvPr/>
        </p:nvSpPr>
        <p:spPr>
          <a:xfrm>
            <a:off x="6077309" y="365760"/>
            <a:ext cx="3017520" cy="274320"/>
          </a:xfrm>
          <a:prstGeom prst="rect">
            <a:avLst/>
          </a:prstGeom>
          <a:noFill/>
          <a:ln/>
        </p:spPr>
        <p:txBody>
          <a:bodyPr wrap="square" rtlCol="0" anchor="ctr"/>
          <a:lstStyle/>
          <a:p>
            <a:pPr marL="0" indent="0" algn="r">
              <a:buNone/>
            </a:pPr>
            <a:r>
              <a:rPr lang="en-US" sz="900" b="1" dirty="0">
                <a:solidFill>
                  <a:srgbClr val="F59E0B"/>
                </a:solidFill>
                <a:latin typeface="Courier New" pitchFamily="34" charset="0"/>
                <a:ea typeface="Courier New" pitchFamily="34" charset="-122"/>
                <a:cs typeface="Courier New" pitchFamily="34" charset="-120"/>
              </a:rPr>
              <a:t>Target Duration: 1:00</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457200" y="365760"/>
            <a:ext cx="11247120" cy="274320"/>
          </a:xfrm>
          <a:prstGeom prst="rect">
            <a:avLst/>
          </a:prstGeom>
          <a:noFill/>
          <a:ln/>
        </p:spPr>
        <p:txBody>
          <a:bodyPr wrap="square" lIns="91440" tIns="45720" rIns="91440" bIns="45720" rtlCol="0" anchor="ctr"/>
          <a:lstStyle/>
          <a:p>
            <a:pPr marL="0" indent="0">
              <a:buNone/>
            </a:pPr>
            <a:r>
              <a:rPr lang="en-US" sz="1200" b="1" dirty="0">
                <a:solidFill>
                  <a:srgbClr val="2DD4BF"/>
                </a:solidFill>
                <a:latin typeface="Arial"/>
                <a:ea typeface="Arial" pitchFamily="34" charset="-122"/>
                <a:cs typeface="Arial"/>
              </a:rPr>
              <a:t>METHODOLOGY PIPELINE • TWO-TIER VALIDATION RIGOR</a:t>
            </a:r>
            <a:endParaRPr lang="en-US" sz="1200">
              <a:latin typeface="Arial"/>
              <a:ea typeface="Calibri"/>
              <a:cs typeface="Arial"/>
            </a:endParaRPr>
          </a:p>
        </p:txBody>
      </p:sp>
      <p:sp>
        <p:nvSpPr>
          <p:cNvPr id="3" name="Text 1"/>
          <p:cNvSpPr/>
          <p:nvPr/>
        </p:nvSpPr>
        <p:spPr>
          <a:xfrm>
            <a:off x="457200" y="640080"/>
            <a:ext cx="11247120" cy="365760"/>
          </a:xfrm>
          <a:prstGeom prst="rect">
            <a:avLst/>
          </a:prstGeom>
          <a:noFill/>
          <a:ln/>
        </p:spPr>
        <p:txBody>
          <a:bodyPr wrap="square" rtlCol="0" anchor="ctr"/>
          <a:lstStyle/>
          <a:p>
            <a:pPr marL="0" indent="0">
              <a:buNone/>
            </a:pPr>
            <a:r>
              <a:rPr lang="en-US" sz="2000" b="1" dirty="0">
                <a:solidFill>
                  <a:srgbClr val="F8FAFC"/>
                </a:solidFill>
                <a:latin typeface="Helvetica" pitchFamily="34" charset="0"/>
                <a:ea typeface="Helvetica" pitchFamily="34" charset="-122"/>
                <a:cs typeface="Helvetica" pitchFamily="34" charset="-120"/>
              </a:rPr>
              <a:t>Proposed Methodology &amp; Experimental Design</a:t>
            </a:r>
            <a:endParaRPr lang="en-US" sz="2000" dirty="0"/>
          </a:p>
        </p:txBody>
      </p:sp>
      <p:sp>
        <p:nvSpPr>
          <p:cNvPr id="4" name="Text 2"/>
          <p:cNvSpPr/>
          <p:nvPr/>
        </p:nvSpPr>
        <p:spPr>
          <a:xfrm>
            <a:off x="457200" y="1051560"/>
            <a:ext cx="11247120" cy="411480"/>
          </a:xfrm>
          <a:prstGeom prst="rect">
            <a:avLst/>
          </a:prstGeom>
          <a:noFill/>
          <a:ln/>
        </p:spPr>
        <p:txBody>
          <a:bodyPr wrap="square" lIns="91440" tIns="45720" rIns="91440" bIns="45720" rtlCol="0" anchor="ctr"/>
          <a:lstStyle/>
          <a:p>
            <a:pPr marL="0" indent="0">
              <a:buNone/>
            </a:pPr>
            <a:r>
              <a:rPr lang="en-US" sz="1200" dirty="0">
                <a:solidFill>
                  <a:srgbClr val="94A3B8"/>
                </a:solidFill>
                <a:latin typeface="Arial"/>
                <a:ea typeface="Arial" pitchFamily="34" charset="-122"/>
                <a:cs typeface="Arial"/>
              </a:rPr>
              <a:t>Bridging Mathematical Graph Solvers and Physical Mininet Emulators</a:t>
            </a:r>
            <a:endParaRPr lang="en-US" sz="1200">
              <a:latin typeface="Arial"/>
              <a:ea typeface="Calibri"/>
              <a:cs typeface="Arial"/>
            </a:endParaRPr>
          </a:p>
        </p:txBody>
      </p:sp>
      <p:sp>
        <p:nvSpPr>
          <p:cNvPr id="5" name="Shape 3"/>
          <p:cNvSpPr/>
          <p:nvPr/>
        </p:nvSpPr>
        <p:spPr>
          <a:xfrm>
            <a:off x="121557" y="1627778"/>
            <a:ext cx="2168435" cy="2877457"/>
          </a:xfrm>
          <a:prstGeom prst="roundRect">
            <a:avLst/>
          </a:prstGeom>
          <a:solidFill>
            <a:srgbClr val="1E293B"/>
          </a:solidFill>
          <a:ln w="25400">
            <a:solidFill>
              <a:srgbClr val="2DD4BF"/>
            </a:solidFill>
            <a:prstDash val="solid"/>
          </a:ln>
        </p:spPr>
      </p:sp>
      <p:sp>
        <p:nvSpPr>
          <p:cNvPr id="6" name="Text 4"/>
          <p:cNvSpPr/>
          <p:nvPr/>
        </p:nvSpPr>
        <p:spPr>
          <a:xfrm>
            <a:off x="240937" y="1828800"/>
            <a:ext cx="3108960" cy="365760"/>
          </a:xfrm>
          <a:prstGeom prst="rect">
            <a:avLst/>
          </a:prstGeom>
          <a:noFill/>
          <a:ln/>
        </p:spPr>
        <p:txBody>
          <a:bodyPr wrap="square" rtlCol="0" anchor="ctr"/>
          <a:lstStyle/>
          <a:p>
            <a:pPr marL="0" indent="0">
              <a:buNone/>
            </a:pPr>
            <a:r>
              <a:rPr lang="en-US" sz="1100" b="1" dirty="0">
                <a:solidFill>
                  <a:srgbClr val="2DD4BF"/>
                </a:solidFill>
                <a:latin typeface="Arial" pitchFamily="34" charset="0"/>
                <a:ea typeface="Arial" pitchFamily="34" charset="-122"/>
                <a:cs typeface="Arial" pitchFamily="34" charset="-120"/>
              </a:rPr>
              <a:t>TIER 1: SYNTHETIC SWEEP</a:t>
            </a:r>
            <a:endParaRPr lang="en-US" sz="1100" dirty="0"/>
          </a:p>
        </p:txBody>
      </p:sp>
      <p:sp>
        <p:nvSpPr>
          <p:cNvPr id="7" name="Text 5"/>
          <p:cNvSpPr/>
          <p:nvPr/>
        </p:nvSpPr>
        <p:spPr>
          <a:xfrm>
            <a:off x="123008" y="2195286"/>
            <a:ext cx="2365105" cy="1926772"/>
          </a:xfrm>
          <a:prstGeom prst="rect">
            <a:avLst/>
          </a:prstGeom>
          <a:noFill/>
          <a:ln/>
        </p:spPr>
        <p:txBody>
          <a:bodyPr wrap="square" rtlCol="0" anchor="ctr"/>
          <a:lstStyle/>
          <a:p>
            <a:pPr marL="0" indent="0">
              <a:buNone/>
            </a:pPr>
            <a:r>
              <a:rPr lang="en-US" sz="1050" dirty="0">
                <a:solidFill>
                  <a:srgbClr val="F8FAFC"/>
                </a:solidFill>
                <a:latin typeface="Arial" pitchFamily="34" charset="0"/>
                <a:ea typeface="Arial" pitchFamily="34" charset="-122"/>
                <a:cs typeface="Arial" pitchFamily="34" charset="-120"/>
              </a:rPr>
              <a:t>• Graph Modeling: Imports topologies into python network representations, running discrete Pareto coordinate sweeps.</a:t>
            </a:r>
            <a:endParaRPr lang="en-US" sz="1050" dirty="0"/>
          </a:p>
          <a:p>
            <a:pPr marL="0" indent="0">
              <a:buNone/>
            </a:pPr>
            <a:endParaRPr lang="en-US" sz="1050" dirty="0"/>
          </a:p>
          <a:p>
            <a:pPr marL="0" indent="0">
              <a:buNone/>
            </a:pPr>
            <a:r>
              <a:rPr lang="en-US" sz="1050" dirty="0">
                <a:solidFill>
                  <a:srgbClr val="F8FAFC"/>
                </a:solidFill>
                <a:latin typeface="Arial" pitchFamily="34" charset="0"/>
                <a:ea typeface="Arial" pitchFamily="34" charset="-122"/>
                <a:cs typeface="Arial" pitchFamily="34" charset="-120"/>
              </a:rPr>
              <a:t>• Optimizers: Genetic layout searches and Multi-Armed Bandit reinforcement learning strategies find candidate coords.</a:t>
            </a:r>
            <a:endParaRPr lang="en-US" sz="1050" dirty="0"/>
          </a:p>
        </p:txBody>
      </p:sp>
      <p:sp>
        <p:nvSpPr>
          <p:cNvPr id="8" name="Shape 6"/>
          <p:cNvSpPr/>
          <p:nvPr/>
        </p:nvSpPr>
        <p:spPr>
          <a:xfrm>
            <a:off x="2481942" y="1627778"/>
            <a:ext cx="2576650" cy="2868387"/>
          </a:xfrm>
          <a:prstGeom prst="roundRect">
            <a:avLst/>
          </a:prstGeom>
          <a:solidFill>
            <a:srgbClr val="1E293B"/>
          </a:solidFill>
          <a:ln w="25400">
            <a:solidFill>
              <a:srgbClr val="2DD4BF"/>
            </a:solidFill>
            <a:prstDash val="solid"/>
          </a:ln>
        </p:spPr>
      </p:sp>
      <p:sp>
        <p:nvSpPr>
          <p:cNvPr id="9" name="Text 7"/>
          <p:cNvSpPr/>
          <p:nvPr/>
        </p:nvSpPr>
        <p:spPr>
          <a:xfrm>
            <a:off x="2583179" y="1828800"/>
            <a:ext cx="3108960" cy="365760"/>
          </a:xfrm>
          <a:prstGeom prst="rect">
            <a:avLst/>
          </a:prstGeom>
          <a:noFill/>
          <a:ln/>
        </p:spPr>
        <p:txBody>
          <a:bodyPr wrap="square" rtlCol="0" anchor="ctr"/>
          <a:lstStyle/>
          <a:p>
            <a:pPr marL="0" indent="0">
              <a:buNone/>
            </a:pPr>
            <a:r>
              <a:rPr lang="en-US" sz="1100" b="1" dirty="0">
                <a:solidFill>
                  <a:srgbClr val="2DD4BF"/>
                </a:solidFill>
                <a:latin typeface="Arial" pitchFamily="34" charset="0"/>
                <a:ea typeface="Arial" pitchFamily="34" charset="-122"/>
                <a:cs typeface="Arial" pitchFamily="34" charset="-120"/>
              </a:rPr>
              <a:t>TIER TWO: KERNEL EMULATION</a:t>
            </a:r>
            <a:endParaRPr lang="en-US" sz="1100" dirty="0"/>
          </a:p>
        </p:txBody>
      </p:sp>
      <p:sp>
        <p:nvSpPr>
          <p:cNvPr id="10" name="Text 8"/>
          <p:cNvSpPr/>
          <p:nvPr/>
        </p:nvSpPr>
        <p:spPr>
          <a:xfrm>
            <a:off x="2583180" y="2113642"/>
            <a:ext cx="2483032" cy="2407558"/>
          </a:xfrm>
          <a:prstGeom prst="rect">
            <a:avLst/>
          </a:prstGeom>
          <a:noFill/>
          <a:ln/>
        </p:spPr>
        <p:txBody>
          <a:bodyPr wrap="square" rtlCol="0" anchor="ctr"/>
          <a:lstStyle/>
          <a:p>
            <a:pPr marL="0" indent="0">
              <a:buNone/>
            </a:pPr>
            <a:r>
              <a:rPr lang="en-US" sz="1050" dirty="0">
                <a:solidFill>
                  <a:srgbClr val="F8FAFC"/>
                </a:solidFill>
                <a:latin typeface="Arial" pitchFamily="34" charset="0"/>
                <a:ea typeface="Arial" pitchFamily="34" charset="-122"/>
                <a:cs typeface="Arial" pitchFamily="34" charset="-120"/>
              </a:rPr>
              <a:t>• Physical Translation: Binds theoretical solver layout placements directly inside Linux network namespace switches.</a:t>
            </a:r>
            <a:endParaRPr lang="en-US" sz="1050" dirty="0"/>
          </a:p>
          <a:p>
            <a:pPr marL="0" indent="0">
              <a:buNone/>
            </a:pPr>
            <a:endParaRPr lang="en-US" sz="1050" dirty="0"/>
          </a:p>
          <a:p>
            <a:pPr marL="0" indent="0">
              <a:buNone/>
            </a:pPr>
            <a:r>
              <a:rPr lang="en-US" sz="1050" dirty="0">
                <a:solidFill>
                  <a:srgbClr val="F8FAFC"/>
                </a:solidFill>
                <a:latin typeface="Arial" pitchFamily="34" charset="0"/>
                <a:ea typeface="Arial" pitchFamily="34" charset="-122"/>
                <a:cs typeface="Arial" pitchFamily="34" charset="-120"/>
              </a:rPr>
              <a:t>• Ryu Controller Sockets: Attaches real daemons carrying TCP OpenFlow control exchanges over emulated hardware channels.</a:t>
            </a:r>
            <a:endParaRPr lang="en-US" sz="1050" dirty="0"/>
          </a:p>
          <a:p>
            <a:pPr marL="0" indent="0">
              <a:buNone/>
            </a:pPr>
            <a:endParaRPr lang="en-US" sz="1050" dirty="0"/>
          </a:p>
          <a:p>
            <a:pPr marL="0" indent="0">
              <a:buNone/>
            </a:pPr>
            <a:r>
              <a:rPr lang="en-US" sz="1050" dirty="0">
                <a:solidFill>
                  <a:srgbClr val="F8FAFC"/>
                </a:solidFill>
                <a:latin typeface="Arial" pitchFamily="34" charset="0"/>
                <a:ea typeface="Arial" pitchFamily="34" charset="-122"/>
                <a:cs typeface="Arial" pitchFamily="34" charset="-120"/>
              </a:rPr>
              <a:t>• Saturated Traffic: Fires high-speed UDP background flows using iperf3 to test queues.</a:t>
            </a:r>
            <a:endParaRPr lang="en-US" sz="1050" dirty="0"/>
          </a:p>
        </p:txBody>
      </p:sp>
      <p:sp>
        <p:nvSpPr>
          <p:cNvPr id="11" name="Shape 9"/>
          <p:cNvSpPr/>
          <p:nvPr/>
        </p:nvSpPr>
        <p:spPr>
          <a:xfrm>
            <a:off x="5259616" y="1255850"/>
            <a:ext cx="3696062" cy="3784598"/>
          </a:xfrm>
          <a:prstGeom prst="roundRect">
            <a:avLst/>
          </a:prstGeom>
          <a:solidFill>
            <a:srgbClr val="1E293B"/>
          </a:solidFill>
          <a:ln w="25400">
            <a:solidFill>
              <a:srgbClr val="F59E0B"/>
            </a:solidFill>
            <a:prstDash val="solid"/>
          </a:ln>
        </p:spPr>
      </p:sp>
      <p:sp>
        <p:nvSpPr>
          <p:cNvPr id="12" name="Text 10"/>
          <p:cNvSpPr/>
          <p:nvPr/>
        </p:nvSpPr>
        <p:spPr>
          <a:xfrm>
            <a:off x="5687423" y="1447800"/>
            <a:ext cx="3566160" cy="365760"/>
          </a:xfrm>
          <a:prstGeom prst="rect">
            <a:avLst/>
          </a:prstGeom>
          <a:noFill/>
          <a:ln/>
        </p:spPr>
        <p:txBody>
          <a:bodyPr wrap="square" rtlCol="0" anchor="ctr"/>
          <a:lstStyle/>
          <a:p>
            <a:pPr marL="0" indent="0">
              <a:buNone/>
            </a:pPr>
            <a:r>
              <a:rPr lang="en-US" sz="1100" b="1" dirty="0">
                <a:solidFill>
                  <a:srgbClr val="F59E0B"/>
                </a:solidFill>
                <a:latin typeface="Arial" pitchFamily="34" charset="0"/>
                <a:ea typeface="Arial" pitchFamily="34" charset="-122"/>
                <a:cs typeface="Arial" pitchFamily="34" charset="-120"/>
              </a:rPr>
              <a:t>EXPERIMENT CONTROLS DETAIL</a:t>
            </a:r>
            <a:endParaRPr lang="en-US" sz="1100" dirty="0"/>
          </a:p>
        </p:txBody>
      </p:sp>
      <p:sp>
        <p:nvSpPr>
          <p:cNvPr id="13" name="Text 11"/>
          <p:cNvSpPr/>
          <p:nvPr/>
        </p:nvSpPr>
        <p:spPr>
          <a:xfrm>
            <a:off x="5261066" y="2676072"/>
            <a:ext cx="3693161" cy="1246414"/>
          </a:xfrm>
          <a:prstGeom prst="rect">
            <a:avLst/>
          </a:prstGeom>
          <a:noFill/>
          <a:ln/>
        </p:spPr>
        <p:txBody>
          <a:bodyPr wrap="square" lIns="91440" tIns="45720" rIns="91440" bIns="45720" rtlCol="0" anchor="ctr"/>
          <a:lstStyle/>
          <a:p>
            <a:pPr marL="0" indent="0">
              <a:buNone/>
            </a:pPr>
            <a:r>
              <a:rPr lang="en-US" sz="1200" dirty="0">
                <a:solidFill>
                  <a:srgbClr val="F8FAFC"/>
                </a:solidFill>
                <a:latin typeface="Courier New"/>
                <a:ea typeface="Courier New" pitchFamily="34" charset="-122"/>
                <a:cs typeface="Courier New"/>
              </a:rPr>
              <a:t>• Seeding Control: Fixed Seed = 42 for absolute statistical reproducibility.</a:t>
            </a:r>
            <a:endParaRPr lang="en-US" sz="1200" dirty="0">
              <a:latin typeface="Courier New"/>
              <a:ea typeface="Calibri"/>
              <a:cs typeface="Courier New"/>
            </a:endParaRPr>
          </a:p>
          <a:p>
            <a:pPr marL="0" indent="0">
              <a:buNone/>
            </a:pPr>
            <a:endParaRPr lang="en-US" sz="1200" dirty="0">
              <a:ea typeface="Calibri"/>
              <a:cs typeface="Calibri"/>
            </a:endParaRPr>
          </a:p>
          <a:p>
            <a:pPr marL="0" indent="0">
              <a:buNone/>
            </a:pPr>
            <a:r>
              <a:rPr lang="en-US" sz="1200" dirty="0">
                <a:solidFill>
                  <a:srgbClr val="F8FAFC"/>
                </a:solidFill>
                <a:latin typeface="Courier New"/>
                <a:ea typeface="Courier New" pitchFamily="34" charset="-122"/>
                <a:cs typeface="Courier New"/>
              </a:rPr>
              <a:t>• Target Grids: Internet2 (N=11) and ATT‑MPLS (N=25).</a:t>
            </a:r>
            <a:endParaRPr lang="en-US" sz="1200" dirty="0">
              <a:latin typeface="Courier New"/>
              <a:ea typeface="Calibri"/>
              <a:cs typeface="Courier New"/>
            </a:endParaRPr>
          </a:p>
          <a:p>
            <a:pPr marL="0" indent="0">
              <a:buNone/>
            </a:pPr>
            <a:endParaRPr lang="en-US" sz="1200" dirty="0">
              <a:ea typeface="Calibri"/>
              <a:cs typeface="Calibri"/>
            </a:endParaRPr>
          </a:p>
          <a:p>
            <a:pPr marL="0" indent="0">
              <a:buNone/>
            </a:pPr>
            <a:r>
              <a:rPr lang="en-US" sz="1200" dirty="0">
                <a:solidFill>
                  <a:srgbClr val="F8FAFC"/>
                </a:solidFill>
                <a:latin typeface="Courier New"/>
                <a:ea typeface="Courier New" pitchFamily="34" charset="-122"/>
                <a:cs typeface="Courier New"/>
              </a:rPr>
              <a:t>• Controller Budgets: k ∈ {2,3,5}.</a:t>
            </a:r>
            <a:endParaRPr lang="en-US" sz="1200" dirty="0">
              <a:latin typeface="Courier New"/>
              <a:ea typeface="Calibri"/>
              <a:cs typeface="Courier New"/>
            </a:endParaRPr>
          </a:p>
          <a:p>
            <a:pPr marL="0" indent="0">
              <a:buNone/>
            </a:pPr>
            <a:endParaRPr lang="en-US" sz="1200" dirty="0">
              <a:ea typeface="Calibri"/>
              <a:cs typeface="Calibri"/>
            </a:endParaRPr>
          </a:p>
          <a:p>
            <a:pPr marL="0" indent="0">
              <a:buNone/>
            </a:pPr>
            <a:r>
              <a:rPr lang="en-US" sz="1200" dirty="0">
                <a:solidFill>
                  <a:srgbClr val="F8FAFC"/>
                </a:solidFill>
                <a:latin typeface="Courier New"/>
                <a:ea typeface="Courier New" pitchFamily="34" charset="-122"/>
                <a:cs typeface="Courier New"/>
              </a:rPr>
              <a:t>• Stress Scenarios: N-1 single-link cut scenarios simulated.</a:t>
            </a:r>
            <a:endParaRPr lang="en-US" sz="1200" dirty="0">
              <a:latin typeface="Courier New"/>
              <a:ea typeface="Calibri"/>
              <a:cs typeface="Courier New"/>
            </a:endParaRPr>
          </a:p>
          <a:p>
            <a:pPr marL="0" indent="0">
              <a:buNone/>
            </a:pPr>
            <a:endParaRPr lang="en-US" sz="1200" dirty="0">
              <a:ea typeface="Calibri"/>
              <a:cs typeface="Calibri"/>
            </a:endParaRPr>
          </a:p>
          <a:p>
            <a:pPr marL="0" indent="0">
              <a:buNone/>
            </a:pPr>
            <a:r>
              <a:rPr lang="en-US" sz="1200" dirty="0">
                <a:solidFill>
                  <a:srgbClr val="F8FAFC"/>
                </a:solidFill>
                <a:latin typeface="Courier New"/>
                <a:ea typeface="Courier New" pitchFamily="34" charset="-122"/>
                <a:cs typeface="Courier New"/>
              </a:rPr>
              <a:t>• Metrics: L (latency in </a:t>
            </a:r>
            <a:r>
              <a:rPr lang="en-US" sz="1200" dirty="0" err="1">
                <a:solidFill>
                  <a:srgbClr val="F8FAFC"/>
                </a:solidFill>
                <a:latin typeface="Courier New"/>
                <a:ea typeface="Courier New" pitchFamily="34" charset="-122"/>
                <a:cs typeface="Courier New"/>
              </a:rPr>
              <a:t>ms</a:t>
            </a:r>
            <a:r>
              <a:rPr lang="en-US" sz="1200" dirty="0">
                <a:solidFill>
                  <a:srgbClr val="F8FAFC"/>
                </a:solidFill>
                <a:latin typeface="Courier New"/>
                <a:ea typeface="Courier New" pitchFamily="34" charset="-122"/>
                <a:cs typeface="Courier New"/>
              </a:rPr>
              <a:t>), </a:t>
            </a:r>
            <a:r>
              <a:rPr lang="en-US" sz="1200" dirty="0" err="1">
                <a:solidFill>
                  <a:srgbClr val="F8FAFC"/>
                </a:solidFill>
                <a:latin typeface="Courier New"/>
                <a:ea typeface="Courier New" pitchFamily="34" charset="-122"/>
                <a:cs typeface="Courier New"/>
              </a:rPr>
              <a:t>Reach_avg</a:t>
            </a:r>
            <a:r>
              <a:rPr lang="en-US" sz="1200" dirty="0">
                <a:solidFill>
                  <a:srgbClr val="F8FAFC"/>
                </a:solidFill>
                <a:latin typeface="Courier New"/>
                <a:ea typeface="Courier New" pitchFamily="34" charset="-122"/>
                <a:cs typeface="Courier New"/>
              </a:rPr>
              <a:t>, and sync Complexity Tax (ω in seconds).</a:t>
            </a:r>
            <a:endParaRPr lang="en-US" sz="1200" dirty="0">
              <a:latin typeface="Courier New"/>
              <a:ea typeface="Calibri"/>
              <a:cs typeface="Courier New"/>
            </a:endParaRPr>
          </a:p>
          <a:p>
            <a:pPr marL="0" indent="0">
              <a:buNone/>
            </a:pPr>
            <a:endParaRPr lang="en-US" sz="1200" dirty="0">
              <a:ea typeface="Calibri"/>
              <a:cs typeface="Calibri"/>
            </a:endParaRPr>
          </a:p>
          <a:p>
            <a:pPr marL="0" indent="0">
              <a:buNone/>
            </a:pPr>
            <a:r>
              <a:rPr lang="en-US" sz="1200" dirty="0">
                <a:solidFill>
                  <a:srgbClr val="F8FAFC"/>
                </a:solidFill>
                <a:latin typeface="Courier New"/>
                <a:ea typeface="Courier New" pitchFamily="34" charset="-122"/>
                <a:cs typeface="Courier New"/>
              </a:rPr>
              <a:t>• Statistics: ANOVA + post-hoc Tukey tests.</a:t>
            </a:r>
            <a:endParaRPr lang="en-US" sz="1200" dirty="0">
              <a:latin typeface="Courier New"/>
              <a:cs typeface="Courier New"/>
            </a:endParaRPr>
          </a:p>
        </p:txBody>
      </p:sp>
      <p:sp>
        <p:nvSpPr>
          <p:cNvPr id="14" name="Text 12"/>
          <p:cNvSpPr/>
          <p:nvPr/>
        </p:nvSpPr>
        <p:spPr>
          <a:xfrm>
            <a:off x="457200" y="5669280"/>
            <a:ext cx="11247120" cy="457200"/>
          </a:xfrm>
          <a:prstGeom prst="rect">
            <a:avLst/>
          </a:prstGeom>
          <a:noFill/>
          <a:ln/>
        </p:spPr>
        <p:txBody>
          <a:bodyPr wrap="square" rtlCol="0" anchor="ctr"/>
          <a:lstStyle/>
          <a:p>
            <a:pPr marL="0" indent="0">
              <a:buNone/>
            </a:pPr>
            <a:r>
              <a:rPr lang="en-US" sz="1000" i="1" dirty="0">
                <a:solidFill>
                  <a:srgbClr val="F59E0B"/>
                </a:solidFill>
                <a:latin typeface="Arial" pitchFamily="34" charset="0"/>
                <a:ea typeface="Arial" pitchFamily="34" charset="-122"/>
                <a:cs typeface="Arial" pitchFamily="34" charset="-120"/>
              </a:rPr>
              <a:t>SO WHAT? Multi-tier design yields mathematical speed backed by hardware credibility.</a:t>
            </a:r>
            <a:endParaRPr lang="en-US" sz="1000" dirty="0"/>
          </a:p>
        </p:txBody>
      </p:sp>
      <p:sp>
        <p:nvSpPr>
          <p:cNvPr id="15" name="Text 13"/>
          <p:cNvSpPr/>
          <p:nvPr/>
        </p:nvSpPr>
        <p:spPr>
          <a:xfrm>
            <a:off x="5457371" y="365760"/>
            <a:ext cx="3017520" cy="274320"/>
          </a:xfrm>
          <a:prstGeom prst="rect">
            <a:avLst/>
          </a:prstGeom>
          <a:noFill/>
          <a:ln/>
        </p:spPr>
        <p:txBody>
          <a:bodyPr wrap="square" rtlCol="0" anchor="ctr"/>
          <a:lstStyle/>
          <a:p>
            <a:pPr marL="0" indent="0" algn="r">
              <a:buNone/>
            </a:pPr>
            <a:r>
              <a:rPr lang="en-US" sz="900" b="1" dirty="0">
                <a:solidFill>
                  <a:srgbClr val="F59E0B"/>
                </a:solidFill>
                <a:latin typeface="Courier New" pitchFamily="34" charset="0"/>
                <a:ea typeface="Courier New" pitchFamily="34" charset="-122"/>
                <a:cs typeface="Courier New" pitchFamily="34" charset="-120"/>
              </a:rPr>
              <a:t>Target Duration: 1:00</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457200" y="365760"/>
            <a:ext cx="11247120" cy="274320"/>
          </a:xfrm>
          <a:prstGeom prst="rect">
            <a:avLst/>
          </a:prstGeom>
          <a:noFill/>
          <a:ln/>
        </p:spPr>
        <p:txBody>
          <a:bodyPr wrap="square" rtlCol="0" anchor="ctr"/>
          <a:lstStyle/>
          <a:p>
            <a:pPr marL="0" indent="0">
              <a:buNone/>
            </a:pPr>
            <a:r>
              <a:rPr lang="en-US" sz="1000" b="1" dirty="0">
                <a:solidFill>
                  <a:srgbClr val="2DD4BF"/>
                </a:solidFill>
                <a:latin typeface="Arial" pitchFamily="34" charset="0"/>
                <a:ea typeface="Arial" pitchFamily="34" charset="-122"/>
                <a:cs typeface="Arial" pitchFamily="34" charset="-120"/>
              </a:rPr>
              <a:t>EVIDENCE OF FEASIBILITY • MEASURED EMPIRICAL DATA</a:t>
            </a:r>
            <a:endParaRPr lang="en-US" sz="1000" dirty="0"/>
          </a:p>
        </p:txBody>
      </p:sp>
      <p:sp>
        <p:nvSpPr>
          <p:cNvPr id="3" name="Text 1"/>
          <p:cNvSpPr/>
          <p:nvPr/>
        </p:nvSpPr>
        <p:spPr>
          <a:xfrm>
            <a:off x="457200" y="640080"/>
            <a:ext cx="11247120" cy="365760"/>
          </a:xfrm>
          <a:prstGeom prst="rect">
            <a:avLst/>
          </a:prstGeom>
          <a:noFill/>
          <a:ln/>
        </p:spPr>
        <p:txBody>
          <a:bodyPr wrap="square" rtlCol="0" anchor="ctr"/>
          <a:lstStyle/>
          <a:p>
            <a:pPr marL="0" indent="0">
              <a:buNone/>
            </a:pPr>
            <a:r>
              <a:rPr lang="en-US" sz="2000" b="1" dirty="0">
                <a:solidFill>
                  <a:srgbClr val="F8FAFC"/>
                </a:solidFill>
                <a:latin typeface="Helvetica" pitchFamily="34" charset="0"/>
                <a:ea typeface="Helvetica" pitchFamily="34" charset="-122"/>
                <a:cs typeface="Helvetica" pitchFamily="34" charset="-120"/>
              </a:rPr>
              <a:t>Evidence of Feasibility &amp; Pilot Dashboard</a:t>
            </a:r>
            <a:endParaRPr lang="en-US" sz="2000" dirty="0"/>
          </a:p>
        </p:txBody>
      </p:sp>
      <p:sp>
        <p:nvSpPr>
          <p:cNvPr id="4" name="Text 2"/>
          <p:cNvSpPr/>
          <p:nvPr/>
        </p:nvSpPr>
        <p:spPr>
          <a:xfrm>
            <a:off x="457200" y="1051560"/>
            <a:ext cx="11247120" cy="411480"/>
          </a:xfrm>
          <a:prstGeom prst="rect">
            <a:avLst/>
          </a:prstGeom>
          <a:noFill/>
          <a:ln/>
        </p:spPr>
        <p:txBody>
          <a:bodyPr wrap="square" rtlCol="0" anchor="ctr"/>
          <a:lstStyle/>
          <a:p>
            <a:pPr marL="0" indent="0">
              <a:buNone/>
            </a:pPr>
            <a:r>
              <a:rPr lang="en-US" sz="1100" dirty="0">
                <a:solidFill>
                  <a:srgbClr val="94A3B8"/>
                </a:solidFill>
                <a:latin typeface="Arial" pitchFamily="34" charset="0"/>
                <a:ea typeface="Arial" pitchFamily="34" charset="-122"/>
                <a:cs typeface="Arial" pitchFamily="34" charset="-120"/>
              </a:rPr>
              <a:t>Pilot Results and DQN Convergence Verification</a:t>
            </a:r>
            <a:endParaRPr lang="en-US" sz="1100" dirty="0"/>
          </a:p>
        </p:txBody>
      </p:sp>
      <p:sp>
        <p:nvSpPr>
          <p:cNvPr id="5" name="Shape 3"/>
          <p:cNvSpPr/>
          <p:nvPr/>
        </p:nvSpPr>
        <p:spPr>
          <a:xfrm>
            <a:off x="620486" y="1635397"/>
            <a:ext cx="4387308" cy="3350623"/>
          </a:xfrm>
          <a:prstGeom prst="rect">
            <a:avLst/>
          </a:prstGeom>
          <a:solidFill>
            <a:srgbClr val="1E293B"/>
          </a:solidFill>
          <a:ln w="19050">
            <a:solidFill>
              <a:srgbClr val="2DD4BF"/>
            </a:solidFill>
            <a:prstDash val="solid"/>
          </a:ln>
        </p:spPr>
      </p:sp>
      <p:sp>
        <p:nvSpPr>
          <p:cNvPr id="6" name="Text 4"/>
          <p:cNvSpPr/>
          <p:nvPr/>
        </p:nvSpPr>
        <p:spPr>
          <a:xfrm>
            <a:off x="640080" y="1645920"/>
            <a:ext cx="4937760" cy="274320"/>
          </a:xfrm>
          <a:prstGeom prst="rect">
            <a:avLst/>
          </a:prstGeom>
          <a:noFill/>
          <a:ln/>
        </p:spPr>
        <p:txBody>
          <a:bodyPr wrap="square" rtlCol="0" anchor="ctr"/>
          <a:lstStyle/>
          <a:p>
            <a:pPr marL="0" indent="0">
              <a:buNone/>
            </a:pPr>
            <a:r>
              <a:rPr lang="en-US" sz="1100" b="1" dirty="0">
                <a:solidFill>
                  <a:srgbClr val="2DD4BF"/>
                </a:solidFill>
                <a:latin typeface="Arial" pitchFamily="34" charset="0"/>
                <a:ea typeface="Arial" pitchFamily="34" charset="-122"/>
                <a:cs typeface="Arial" pitchFamily="34" charset="-120"/>
              </a:rPr>
              <a:t>SHORTLISTED PARETO CANDIDATES FROM TIER 1</a:t>
            </a:r>
            <a:endParaRPr lang="en-US" sz="1100" dirty="0"/>
          </a:p>
        </p:txBody>
      </p:sp>
      <p:graphicFrame>
        <p:nvGraphicFramePr>
          <p:cNvPr id="7" name="Table 0"/>
          <p:cNvGraphicFramePr>
            <a:graphicFrameLocks noGrp="1"/>
          </p:cNvGraphicFramePr>
          <p:nvPr>
            <p:extLst>
              <p:ext uri="{D42A27DB-BD31-4B8C-83A1-F6EECF244321}">
                <p14:modId xmlns:p14="http://schemas.microsoft.com/office/powerpoint/2010/main" val="382819866"/>
              </p:ext>
            </p:extLst>
          </p:nvPr>
        </p:nvGraphicFramePr>
        <p:xfrm>
          <a:off x="644071" y="2059214"/>
          <a:ext cx="4366216" cy="1600160"/>
        </p:xfrm>
        <a:graphic>
          <a:graphicData uri="http://schemas.openxmlformats.org/drawingml/2006/table">
            <a:tbl>
              <a:tblPr/>
              <a:tblGrid>
                <a:gridCol w="1091554">
                  <a:extLst>
                    <a:ext uri="{9D8B030D-6E8A-4147-A177-3AD203B41FA5}">
                      <a16:colId xmlns:a16="http://schemas.microsoft.com/office/drawing/2014/main" val="20000"/>
                    </a:ext>
                  </a:extLst>
                </a:gridCol>
                <a:gridCol w="1091554">
                  <a:extLst>
                    <a:ext uri="{9D8B030D-6E8A-4147-A177-3AD203B41FA5}">
                      <a16:colId xmlns:a16="http://schemas.microsoft.com/office/drawing/2014/main" val="20001"/>
                    </a:ext>
                  </a:extLst>
                </a:gridCol>
                <a:gridCol w="1091554">
                  <a:extLst>
                    <a:ext uri="{9D8B030D-6E8A-4147-A177-3AD203B41FA5}">
                      <a16:colId xmlns:a16="http://schemas.microsoft.com/office/drawing/2014/main" val="20002"/>
                    </a:ext>
                  </a:extLst>
                </a:gridCol>
                <a:gridCol w="1091554">
                  <a:extLst>
                    <a:ext uri="{9D8B030D-6E8A-4147-A177-3AD203B41FA5}">
                      <a16:colId xmlns:a16="http://schemas.microsoft.com/office/drawing/2014/main" val="20003"/>
                    </a:ext>
                  </a:extLst>
                </a:gridCol>
              </a:tblGrid>
              <a:tr h="320032">
                <a:tc>
                  <a:txBody>
                    <a:bodyPr/>
                    <a:lstStyle/>
                    <a:p>
                      <a:pPr marL="0" indent="0" algn="ctr">
                        <a:buNone/>
                      </a:pPr>
                      <a:r>
                        <a:rPr lang="en-US" sz="800" b="1" dirty="0">
                          <a:solidFill>
                            <a:srgbClr val="F8FAFC"/>
                          </a:solidFill>
                        </a:rPr>
                        <a:t>Cand ID</a:t>
                      </a:r>
                      <a:endParaRPr lang="en-US" sz="800" dirty="0"/>
                    </a:p>
                  </a:txBody>
                  <a:tcPr anchor="ctr">
                    <a:lnL w="6350" cap="flat" cmpd="sng" algn="ctr">
                      <a:solidFill>
                        <a:srgbClr val="94A3B8"/>
                      </a:solidFill>
                      <a:prstDash val="solid"/>
                      <a:round/>
                      <a:headEnd type="none" w="med" len="med"/>
                      <a:tailEnd type="none" w="med" len="med"/>
                    </a:lnL>
                    <a:lnR w="6350" cap="flat" cmpd="sng" algn="ctr">
                      <a:solidFill>
                        <a:srgbClr val="94A3B8"/>
                      </a:solidFill>
                      <a:prstDash val="solid"/>
                      <a:round/>
                      <a:headEnd type="none" w="med" len="med"/>
                      <a:tailEnd type="none" w="med" len="med"/>
                    </a:lnR>
                    <a:lnT w="6350" cap="flat" cmpd="sng" algn="ctr">
                      <a:solidFill>
                        <a:srgbClr val="94A3B8"/>
                      </a:solidFill>
                      <a:prstDash val="solid"/>
                      <a:round/>
                      <a:headEnd type="none" w="med" len="med"/>
                      <a:tailEnd type="none" w="med" len="med"/>
                    </a:lnT>
                    <a:lnB w="6350" cap="flat" cmpd="sng" algn="ctr">
                      <a:solidFill>
                        <a:srgbClr val="94A3B8"/>
                      </a:solidFill>
                      <a:prstDash val="solid"/>
                      <a:round/>
                      <a:headEnd type="none" w="med" len="med"/>
                      <a:tailEnd type="none" w="med" len="med"/>
                    </a:lnB>
                    <a:solidFill>
                      <a:srgbClr val="0F172A"/>
                    </a:solidFill>
                  </a:tcPr>
                </a:tc>
                <a:tc>
                  <a:txBody>
                    <a:bodyPr/>
                    <a:lstStyle/>
                    <a:p>
                      <a:pPr marL="0" indent="0" algn="ctr">
                        <a:buNone/>
                      </a:pPr>
                      <a:r>
                        <a:rPr lang="en-US" sz="800" b="1" dirty="0">
                          <a:solidFill>
                            <a:srgbClr val="2DD4BF"/>
                          </a:solidFill>
                        </a:rPr>
                        <a:t>Solver</a:t>
                      </a:r>
                      <a:endParaRPr lang="en-US" sz="800" dirty="0"/>
                    </a:p>
                  </a:txBody>
                  <a:tcPr anchor="ctr">
                    <a:lnL w="6350" cap="flat" cmpd="sng" algn="ctr">
                      <a:solidFill>
                        <a:srgbClr val="94A3B8"/>
                      </a:solidFill>
                      <a:prstDash val="solid"/>
                      <a:round/>
                      <a:headEnd type="none" w="med" len="med"/>
                      <a:tailEnd type="none" w="med" len="med"/>
                    </a:lnL>
                    <a:lnR w="6350" cap="flat" cmpd="sng" algn="ctr">
                      <a:solidFill>
                        <a:srgbClr val="94A3B8"/>
                      </a:solidFill>
                      <a:prstDash val="solid"/>
                      <a:round/>
                      <a:headEnd type="none" w="med" len="med"/>
                      <a:tailEnd type="none" w="med" len="med"/>
                    </a:lnR>
                    <a:lnT w="6350" cap="flat" cmpd="sng" algn="ctr">
                      <a:solidFill>
                        <a:srgbClr val="94A3B8"/>
                      </a:solidFill>
                      <a:prstDash val="solid"/>
                      <a:round/>
                      <a:headEnd type="none" w="med" len="med"/>
                      <a:tailEnd type="none" w="med" len="med"/>
                    </a:lnT>
                    <a:lnB w="6350" cap="flat" cmpd="sng" algn="ctr">
                      <a:solidFill>
                        <a:srgbClr val="94A3B8"/>
                      </a:solidFill>
                      <a:prstDash val="solid"/>
                      <a:round/>
                      <a:headEnd type="none" w="med" len="med"/>
                      <a:tailEnd type="none" w="med" len="med"/>
                    </a:lnB>
                    <a:solidFill>
                      <a:srgbClr val="0F172A"/>
                    </a:solidFill>
                  </a:tcPr>
                </a:tc>
                <a:tc>
                  <a:txBody>
                    <a:bodyPr/>
                    <a:lstStyle/>
                    <a:p>
                      <a:pPr marL="0" indent="0" algn="ctr">
                        <a:buNone/>
                      </a:pPr>
                      <a:r>
                        <a:rPr lang="en-US" sz="800" b="1" dirty="0">
                          <a:solidFill>
                            <a:srgbClr val="F8FAFC"/>
                          </a:solidFill>
                        </a:rPr>
                        <a:t>Latency L</a:t>
                      </a:r>
                      <a:endParaRPr lang="en-US" sz="800" dirty="0"/>
                    </a:p>
                  </a:txBody>
                  <a:tcPr anchor="ctr">
                    <a:lnL w="6350" cap="flat" cmpd="sng" algn="ctr">
                      <a:solidFill>
                        <a:srgbClr val="94A3B8"/>
                      </a:solidFill>
                      <a:prstDash val="solid"/>
                      <a:round/>
                      <a:headEnd type="none" w="med" len="med"/>
                      <a:tailEnd type="none" w="med" len="med"/>
                    </a:lnL>
                    <a:lnR w="6350" cap="flat" cmpd="sng" algn="ctr">
                      <a:solidFill>
                        <a:srgbClr val="94A3B8"/>
                      </a:solidFill>
                      <a:prstDash val="solid"/>
                      <a:round/>
                      <a:headEnd type="none" w="med" len="med"/>
                      <a:tailEnd type="none" w="med" len="med"/>
                    </a:lnR>
                    <a:lnT w="6350" cap="flat" cmpd="sng" algn="ctr">
                      <a:solidFill>
                        <a:srgbClr val="94A3B8"/>
                      </a:solidFill>
                      <a:prstDash val="solid"/>
                      <a:round/>
                      <a:headEnd type="none" w="med" len="med"/>
                      <a:tailEnd type="none" w="med" len="med"/>
                    </a:lnT>
                    <a:lnB w="6350" cap="flat" cmpd="sng" algn="ctr">
                      <a:solidFill>
                        <a:srgbClr val="94A3B8"/>
                      </a:solidFill>
                      <a:prstDash val="solid"/>
                      <a:round/>
                      <a:headEnd type="none" w="med" len="med"/>
                      <a:tailEnd type="none" w="med" len="med"/>
                    </a:lnB>
                    <a:solidFill>
                      <a:srgbClr val="0F172A"/>
                    </a:solidFill>
                  </a:tcPr>
                </a:tc>
                <a:tc>
                  <a:txBody>
                    <a:bodyPr/>
                    <a:lstStyle/>
                    <a:p>
                      <a:pPr marL="0" indent="0" algn="ctr">
                        <a:buNone/>
                      </a:pPr>
                      <a:r>
                        <a:rPr lang="en-US" sz="800" b="1" dirty="0">
                          <a:solidFill>
                            <a:srgbClr val="F8FAFC"/>
                          </a:solidFill>
                        </a:rPr>
                        <a:t>Sync Ω</a:t>
                      </a:r>
                      <a:endParaRPr lang="en-US" sz="800" dirty="0"/>
                    </a:p>
                  </a:txBody>
                  <a:tcPr anchor="ctr">
                    <a:lnL w="6350" cap="flat" cmpd="sng" algn="ctr">
                      <a:solidFill>
                        <a:srgbClr val="94A3B8"/>
                      </a:solidFill>
                      <a:prstDash val="solid"/>
                      <a:round/>
                      <a:headEnd type="none" w="med" len="med"/>
                      <a:tailEnd type="none" w="med" len="med"/>
                    </a:lnL>
                    <a:lnR w="6350" cap="flat" cmpd="sng" algn="ctr">
                      <a:solidFill>
                        <a:srgbClr val="94A3B8"/>
                      </a:solidFill>
                      <a:prstDash val="solid"/>
                      <a:round/>
                      <a:headEnd type="none" w="med" len="med"/>
                      <a:tailEnd type="none" w="med" len="med"/>
                    </a:lnR>
                    <a:lnT w="6350" cap="flat" cmpd="sng" algn="ctr">
                      <a:solidFill>
                        <a:srgbClr val="94A3B8"/>
                      </a:solidFill>
                      <a:prstDash val="solid"/>
                      <a:round/>
                      <a:headEnd type="none" w="med" len="med"/>
                      <a:tailEnd type="none" w="med" len="med"/>
                    </a:lnT>
                    <a:lnB w="6350" cap="flat" cmpd="sng" algn="ctr">
                      <a:solidFill>
                        <a:srgbClr val="94A3B8"/>
                      </a:solidFill>
                      <a:prstDash val="solid"/>
                      <a:round/>
                      <a:headEnd type="none" w="med" len="med"/>
                      <a:tailEnd type="none" w="med" len="med"/>
                    </a:lnB>
                    <a:solidFill>
                      <a:srgbClr val="0F172A"/>
                    </a:solidFill>
                  </a:tcPr>
                </a:tc>
                <a:extLst>
                  <a:ext uri="{0D108BD9-81ED-4DB2-BD59-A6C34878D82A}">
                    <a16:rowId xmlns:a16="http://schemas.microsoft.com/office/drawing/2014/main" val="10000"/>
                  </a:ext>
                </a:extLst>
              </a:tr>
              <a:tr h="320032">
                <a:tc>
                  <a:txBody>
                    <a:bodyPr/>
                    <a:lstStyle/>
                    <a:p>
                      <a:pPr marL="0" indent="0" algn="ctr">
                        <a:buNone/>
                      </a:pPr>
                      <a:r>
                        <a:rPr lang="en-US" sz="750" dirty="0">
                          <a:solidFill>
                            <a:srgbClr val="F8FAFC"/>
                          </a:solidFill>
                        </a:rPr>
                        <a:t>#1</a:t>
                      </a:r>
                      <a:endParaRPr lang="en-US" sz="750" dirty="0"/>
                    </a:p>
                  </a:txBody>
                  <a:tcPr anchor="ctr">
                    <a:lnL w="6350" cap="flat" cmpd="sng" algn="ctr">
                      <a:solidFill>
                        <a:srgbClr val="94A3B8"/>
                      </a:solidFill>
                      <a:prstDash val="solid"/>
                      <a:round/>
                      <a:headEnd type="none" w="med" len="med"/>
                      <a:tailEnd type="none" w="med" len="med"/>
                    </a:lnL>
                    <a:lnR w="6350" cap="flat" cmpd="sng" algn="ctr">
                      <a:solidFill>
                        <a:srgbClr val="94A3B8"/>
                      </a:solidFill>
                      <a:prstDash val="solid"/>
                      <a:round/>
                      <a:headEnd type="none" w="med" len="med"/>
                      <a:tailEnd type="none" w="med" len="med"/>
                    </a:lnR>
                    <a:lnT w="6350" cap="flat" cmpd="sng" algn="ctr">
                      <a:solidFill>
                        <a:srgbClr val="94A3B8"/>
                      </a:solidFill>
                      <a:prstDash val="solid"/>
                      <a:round/>
                      <a:headEnd type="none" w="med" len="med"/>
                      <a:tailEnd type="none" w="med" len="med"/>
                    </a:lnT>
                    <a:lnB w="6350" cap="flat" cmpd="sng" algn="ctr">
                      <a:solidFill>
                        <a:srgbClr val="94A3B8"/>
                      </a:solidFill>
                      <a:prstDash val="solid"/>
                      <a:round/>
                      <a:headEnd type="none" w="med" len="med"/>
                      <a:tailEnd type="none" w="med" len="med"/>
                    </a:lnB>
                  </a:tcPr>
                </a:tc>
                <a:tc>
                  <a:txBody>
                    <a:bodyPr/>
                    <a:lstStyle/>
                    <a:p>
                      <a:pPr marL="0" indent="0" algn="ctr">
                        <a:buNone/>
                      </a:pPr>
                      <a:r>
                        <a:rPr lang="en-US" sz="750" b="1" dirty="0">
                          <a:solidFill>
                            <a:srgbClr val="F59E0B"/>
                          </a:solidFill>
                        </a:rPr>
                        <a:t>Genetic</a:t>
                      </a:r>
                      <a:endParaRPr lang="en-US" sz="750" dirty="0"/>
                    </a:p>
                  </a:txBody>
                  <a:tcPr anchor="ctr">
                    <a:lnL w="6350" cap="flat" cmpd="sng" algn="ctr">
                      <a:solidFill>
                        <a:srgbClr val="94A3B8"/>
                      </a:solidFill>
                      <a:prstDash val="solid"/>
                      <a:round/>
                      <a:headEnd type="none" w="med" len="med"/>
                      <a:tailEnd type="none" w="med" len="med"/>
                    </a:lnL>
                    <a:lnR w="6350" cap="flat" cmpd="sng" algn="ctr">
                      <a:solidFill>
                        <a:srgbClr val="94A3B8"/>
                      </a:solidFill>
                      <a:prstDash val="solid"/>
                      <a:round/>
                      <a:headEnd type="none" w="med" len="med"/>
                      <a:tailEnd type="none" w="med" len="med"/>
                    </a:lnR>
                    <a:lnT w="6350" cap="flat" cmpd="sng" algn="ctr">
                      <a:solidFill>
                        <a:srgbClr val="94A3B8"/>
                      </a:solidFill>
                      <a:prstDash val="solid"/>
                      <a:round/>
                      <a:headEnd type="none" w="med" len="med"/>
                      <a:tailEnd type="none" w="med" len="med"/>
                    </a:lnT>
                    <a:lnB w="6350" cap="flat" cmpd="sng" algn="ctr">
                      <a:solidFill>
                        <a:srgbClr val="94A3B8"/>
                      </a:solidFill>
                      <a:prstDash val="solid"/>
                      <a:round/>
                      <a:headEnd type="none" w="med" len="med"/>
                      <a:tailEnd type="none" w="med" len="med"/>
                    </a:lnB>
                  </a:tcPr>
                </a:tc>
                <a:tc>
                  <a:txBody>
                    <a:bodyPr/>
                    <a:lstStyle/>
                    <a:p>
                      <a:pPr marL="0" indent="0" algn="ctr">
                        <a:buNone/>
                      </a:pPr>
                      <a:r>
                        <a:rPr lang="en-US" sz="750" dirty="0">
                          <a:solidFill>
                            <a:srgbClr val="F8FAFC"/>
                          </a:solidFill>
                          <a:latin typeface="Courier New" pitchFamily="34" charset="0"/>
                          <a:ea typeface="Courier New" pitchFamily="34" charset="-122"/>
                          <a:cs typeface="Courier New" pitchFamily="34" charset="-120"/>
                        </a:rPr>
                        <a:t>2.222</a:t>
                      </a:r>
                      <a:endParaRPr lang="en-US" sz="750" dirty="0">
                        <a:latin typeface="Courier New" charset="0"/>
                        <a:ea typeface="Courier New" charset="0"/>
                        <a:cs typeface="Courier New" charset="0"/>
                      </a:endParaRPr>
                    </a:p>
                  </a:txBody>
                  <a:tcPr anchor="ctr">
                    <a:lnL w="6350" cap="flat" cmpd="sng" algn="ctr">
                      <a:solidFill>
                        <a:srgbClr val="94A3B8"/>
                      </a:solidFill>
                      <a:prstDash val="solid"/>
                      <a:round/>
                      <a:headEnd type="none" w="med" len="med"/>
                      <a:tailEnd type="none" w="med" len="med"/>
                    </a:lnL>
                    <a:lnR w="6350" cap="flat" cmpd="sng" algn="ctr">
                      <a:solidFill>
                        <a:srgbClr val="94A3B8"/>
                      </a:solidFill>
                      <a:prstDash val="solid"/>
                      <a:round/>
                      <a:headEnd type="none" w="med" len="med"/>
                      <a:tailEnd type="none" w="med" len="med"/>
                    </a:lnR>
                    <a:lnT w="6350" cap="flat" cmpd="sng" algn="ctr">
                      <a:solidFill>
                        <a:srgbClr val="94A3B8"/>
                      </a:solidFill>
                      <a:prstDash val="solid"/>
                      <a:round/>
                      <a:headEnd type="none" w="med" len="med"/>
                      <a:tailEnd type="none" w="med" len="med"/>
                    </a:lnT>
                    <a:lnB w="6350" cap="flat" cmpd="sng" algn="ctr">
                      <a:solidFill>
                        <a:srgbClr val="94A3B8"/>
                      </a:solidFill>
                      <a:prstDash val="solid"/>
                      <a:round/>
                      <a:headEnd type="none" w="med" len="med"/>
                      <a:tailEnd type="none" w="med" len="med"/>
                    </a:lnB>
                  </a:tcPr>
                </a:tc>
                <a:tc>
                  <a:txBody>
                    <a:bodyPr/>
                    <a:lstStyle/>
                    <a:p>
                      <a:pPr marL="0" indent="0" algn="ctr">
                        <a:buNone/>
                      </a:pPr>
                      <a:r>
                        <a:rPr lang="en-US" sz="750" dirty="0">
                          <a:solidFill>
                            <a:srgbClr val="F8FAFC"/>
                          </a:solidFill>
                          <a:latin typeface="Courier New" pitchFamily="34" charset="0"/>
                          <a:ea typeface="Courier New" pitchFamily="34" charset="-122"/>
                          <a:cs typeface="Courier New" pitchFamily="34" charset="-120"/>
                        </a:rPr>
                        <a:t>4.320</a:t>
                      </a:r>
                      <a:endParaRPr lang="en-US" sz="750" dirty="0">
                        <a:latin typeface="Courier New" charset="0"/>
                        <a:ea typeface="Courier New" charset="0"/>
                        <a:cs typeface="Courier New" charset="0"/>
                      </a:endParaRPr>
                    </a:p>
                  </a:txBody>
                  <a:tcPr anchor="ctr">
                    <a:lnL w="6350" cap="flat" cmpd="sng" algn="ctr">
                      <a:solidFill>
                        <a:srgbClr val="94A3B8"/>
                      </a:solidFill>
                      <a:prstDash val="solid"/>
                      <a:round/>
                      <a:headEnd type="none" w="med" len="med"/>
                      <a:tailEnd type="none" w="med" len="med"/>
                    </a:lnL>
                    <a:lnR w="6350" cap="flat" cmpd="sng" algn="ctr">
                      <a:solidFill>
                        <a:srgbClr val="94A3B8"/>
                      </a:solidFill>
                      <a:prstDash val="solid"/>
                      <a:round/>
                      <a:headEnd type="none" w="med" len="med"/>
                      <a:tailEnd type="none" w="med" len="med"/>
                    </a:lnR>
                    <a:lnT w="6350" cap="flat" cmpd="sng" algn="ctr">
                      <a:solidFill>
                        <a:srgbClr val="94A3B8"/>
                      </a:solidFill>
                      <a:prstDash val="solid"/>
                      <a:round/>
                      <a:headEnd type="none" w="med" len="med"/>
                      <a:tailEnd type="none" w="med" len="med"/>
                    </a:lnT>
                    <a:lnB w="6350" cap="flat" cmpd="sng" algn="ctr">
                      <a:solidFill>
                        <a:srgbClr val="94A3B8"/>
                      </a:solidFill>
                      <a:prstDash val="solid"/>
                      <a:round/>
                      <a:headEnd type="none" w="med" len="med"/>
                      <a:tailEnd type="none" w="med" len="med"/>
                    </a:lnB>
                  </a:tcPr>
                </a:tc>
                <a:extLst>
                  <a:ext uri="{0D108BD9-81ED-4DB2-BD59-A6C34878D82A}">
                    <a16:rowId xmlns:a16="http://schemas.microsoft.com/office/drawing/2014/main" val="10001"/>
                  </a:ext>
                </a:extLst>
              </a:tr>
              <a:tr h="320032">
                <a:tc>
                  <a:txBody>
                    <a:bodyPr/>
                    <a:lstStyle/>
                    <a:p>
                      <a:pPr marL="0" indent="0" algn="ctr">
                        <a:buNone/>
                      </a:pPr>
                      <a:r>
                        <a:rPr lang="en-US" sz="750" dirty="0">
                          <a:solidFill>
                            <a:srgbClr val="F8FAFC"/>
                          </a:solidFill>
                        </a:rPr>
                        <a:t>#2</a:t>
                      </a:r>
                      <a:endParaRPr lang="en-US" sz="750" dirty="0"/>
                    </a:p>
                  </a:txBody>
                  <a:tcPr anchor="ctr">
                    <a:lnL w="6350" cap="flat" cmpd="sng" algn="ctr">
                      <a:solidFill>
                        <a:srgbClr val="94A3B8"/>
                      </a:solidFill>
                      <a:prstDash val="solid"/>
                      <a:round/>
                      <a:headEnd type="none" w="med" len="med"/>
                      <a:tailEnd type="none" w="med" len="med"/>
                    </a:lnL>
                    <a:lnR w="6350" cap="flat" cmpd="sng" algn="ctr">
                      <a:solidFill>
                        <a:srgbClr val="94A3B8"/>
                      </a:solidFill>
                      <a:prstDash val="solid"/>
                      <a:round/>
                      <a:headEnd type="none" w="med" len="med"/>
                      <a:tailEnd type="none" w="med" len="med"/>
                    </a:lnR>
                    <a:lnT w="6350" cap="flat" cmpd="sng" algn="ctr">
                      <a:solidFill>
                        <a:srgbClr val="94A3B8"/>
                      </a:solidFill>
                      <a:prstDash val="solid"/>
                      <a:round/>
                      <a:headEnd type="none" w="med" len="med"/>
                      <a:tailEnd type="none" w="med" len="med"/>
                    </a:lnT>
                    <a:lnB w="6350" cap="flat" cmpd="sng" algn="ctr">
                      <a:solidFill>
                        <a:srgbClr val="94A3B8"/>
                      </a:solidFill>
                      <a:prstDash val="solid"/>
                      <a:round/>
                      <a:headEnd type="none" w="med" len="med"/>
                      <a:tailEnd type="none" w="med" len="med"/>
                    </a:lnB>
                  </a:tcPr>
                </a:tc>
                <a:tc>
                  <a:txBody>
                    <a:bodyPr/>
                    <a:lstStyle/>
                    <a:p>
                      <a:pPr marL="0" indent="0" algn="ctr">
                        <a:buNone/>
                      </a:pPr>
                      <a:r>
                        <a:rPr lang="en-US" sz="750" b="1" dirty="0">
                          <a:solidFill>
                            <a:srgbClr val="F59E0B"/>
                          </a:solidFill>
                        </a:rPr>
                        <a:t>Genetic</a:t>
                      </a:r>
                      <a:endParaRPr lang="en-US" sz="750" dirty="0"/>
                    </a:p>
                  </a:txBody>
                  <a:tcPr anchor="ctr">
                    <a:lnL w="6350" cap="flat" cmpd="sng" algn="ctr">
                      <a:solidFill>
                        <a:srgbClr val="94A3B8"/>
                      </a:solidFill>
                      <a:prstDash val="solid"/>
                      <a:round/>
                      <a:headEnd type="none" w="med" len="med"/>
                      <a:tailEnd type="none" w="med" len="med"/>
                    </a:lnL>
                    <a:lnR w="6350" cap="flat" cmpd="sng" algn="ctr">
                      <a:solidFill>
                        <a:srgbClr val="94A3B8"/>
                      </a:solidFill>
                      <a:prstDash val="solid"/>
                      <a:round/>
                      <a:headEnd type="none" w="med" len="med"/>
                      <a:tailEnd type="none" w="med" len="med"/>
                    </a:lnR>
                    <a:lnT w="6350" cap="flat" cmpd="sng" algn="ctr">
                      <a:solidFill>
                        <a:srgbClr val="94A3B8"/>
                      </a:solidFill>
                      <a:prstDash val="solid"/>
                      <a:round/>
                      <a:headEnd type="none" w="med" len="med"/>
                      <a:tailEnd type="none" w="med" len="med"/>
                    </a:lnT>
                    <a:lnB w="6350" cap="flat" cmpd="sng" algn="ctr">
                      <a:solidFill>
                        <a:srgbClr val="94A3B8"/>
                      </a:solidFill>
                      <a:prstDash val="solid"/>
                      <a:round/>
                      <a:headEnd type="none" w="med" len="med"/>
                      <a:tailEnd type="none" w="med" len="med"/>
                    </a:lnB>
                  </a:tcPr>
                </a:tc>
                <a:tc>
                  <a:txBody>
                    <a:bodyPr/>
                    <a:lstStyle/>
                    <a:p>
                      <a:pPr marL="0" indent="0" algn="ctr">
                        <a:buNone/>
                      </a:pPr>
                      <a:r>
                        <a:rPr lang="en-US" sz="750" dirty="0">
                          <a:solidFill>
                            <a:srgbClr val="F8FAFC"/>
                          </a:solidFill>
                          <a:latin typeface="Courier New" pitchFamily="34" charset="0"/>
                          <a:ea typeface="Courier New" pitchFamily="34" charset="-122"/>
                          <a:cs typeface="Courier New" pitchFamily="34" charset="-120"/>
                        </a:rPr>
                        <a:t>2.222</a:t>
                      </a:r>
                      <a:endParaRPr lang="en-US" sz="750" dirty="0">
                        <a:latin typeface="Courier New" charset="0"/>
                        <a:ea typeface="Courier New" charset="0"/>
                        <a:cs typeface="Courier New" charset="0"/>
                      </a:endParaRPr>
                    </a:p>
                  </a:txBody>
                  <a:tcPr anchor="ctr">
                    <a:lnL w="6350" cap="flat" cmpd="sng" algn="ctr">
                      <a:solidFill>
                        <a:srgbClr val="94A3B8"/>
                      </a:solidFill>
                      <a:prstDash val="solid"/>
                      <a:round/>
                      <a:headEnd type="none" w="med" len="med"/>
                      <a:tailEnd type="none" w="med" len="med"/>
                    </a:lnL>
                    <a:lnR w="6350" cap="flat" cmpd="sng" algn="ctr">
                      <a:solidFill>
                        <a:srgbClr val="94A3B8"/>
                      </a:solidFill>
                      <a:prstDash val="solid"/>
                      <a:round/>
                      <a:headEnd type="none" w="med" len="med"/>
                      <a:tailEnd type="none" w="med" len="med"/>
                    </a:lnR>
                    <a:lnT w="6350" cap="flat" cmpd="sng" algn="ctr">
                      <a:solidFill>
                        <a:srgbClr val="94A3B8"/>
                      </a:solidFill>
                      <a:prstDash val="solid"/>
                      <a:round/>
                      <a:headEnd type="none" w="med" len="med"/>
                      <a:tailEnd type="none" w="med" len="med"/>
                    </a:lnT>
                    <a:lnB w="6350" cap="flat" cmpd="sng" algn="ctr">
                      <a:solidFill>
                        <a:srgbClr val="94A3B8"/>
                      </a:solidFill>
                      <a:prstDash val="solid"/>
                      <a:round/>
                      <a:headEnd type="none" w="med" len="med"/>
                      <a:tailEnd type="none" w="med" len="med"/>
                    </a:lnB>
                  </a:tcPr>
                </a:tc>
                <a:tc>
                  <a:txBody>
                    <a:bodyPr/>
                    <a:lstStyle/>
                    <a:p>
                      <a:pPr marL="0" indent="0" algn="ctr">
                        <a:buNone/>
                      </a:pPr>
                      <a:r>
                        <a:rPr lang="en-US" sz="750" dirty="0">
                          <a:solidFill>
                            <a:srgbClr val="F8FAFC"/>
                          </a:solidFill>
                          <a:latin typeface="Courier New" pitchFamily="34" charset="0"/>
                          <a:ea typeface="Courier New" pitchFamily="34" charset="-122"/>
                          <a:cs typeface="Courier New" pitchFamily="34" charset="-120"/>
                        </a:rPr>
                        <a:t>4.320</a:t>
                      </a:r>
                      <a:endParaRPr lang="en-US" sz="750" dirty="0">
                        <a:latin typeface="Courier New" charset="0"/>
                        <a:ea typeface="Courier New" charset="0"/>
                        <a:cs typeface="Courier New" charset="0"/>
                      </a:endParaRPr>
                    </a:p>
                  </a:txBody>
                  <a:tcPr anchor="ctr">
                    <a:lnL w="6350" cap="flat" cmpd="sng" algn="ctr">
                      <a:solidFill>
                        <a:srgbClr val="94A3B8"/>
                      </a:solidFill>
                      <a:prstDash val="solid"/>
                      <a:round/>
                      <a:headEnd type="none" w="med" len="med"/>
                      <a:tailEnd type="none" w="med" len="med"/>
                    </a:lnL>
                    <a:lnR w="6350" cap="flat" cmpd="sng" algn="ctr">
                      <a:solidFill>
                        <a:srgbClr val="94A3B8"/>
                      </a:solidFill>
                      <a:prstDash val="solid"/>
                      <a:round/>
                      <a:headEnd type="none" w="med" len="med"/>
                      <a:tailEnd type="none" w="med" len="med"/>
                    </a:lnR>
                    <a:lnT w="6350" cap="flat" cmpd="sng" algn="ctr">
                      <a:solidFill>
                        <a:srgbClr val="94A3B8"/>
                      </a:solidFill>
                      <a:prstDash val="solid"/>
                      <a:round/>
                      <a:headEnd type="none" w="med" len="med"/>
                      <a:tailEnd type="none" w="med" len="med"/>
                    </a:lnT>
                    <a:lnB w="6350" cap="flat" cmpd="sng" algn="ctr">
                      <a:solidFill>
                        <a:srgbClr val="94A3B8"/>
                      </a:solidFill>
                      <a:prstDash val="solid"/>
                      <a:round/>
                      <a:headEnd type="none" w="med" len="med"/>
                      <a:tailEnd type="none" w="med" len="med"/>
                    </a:lnB>
                  </a:tcPr>
                </a:tc>
                <a:extLst>
                  <a:ext uri="{0D108BD9-81ED-4DB2-BD59-A6C34878D82A}">
                    <a16:rowId xmlns:a16="http://schemas.microsoft.com/office/drawing/2014/main" val="10002"/>
                  </a:ext>
                </a:extLst>
              </a:tr>
              <a:tr h="320032">
                <a:tc>
                  <a:txBody>
                    <a:bodyPr/>
                    <a:lstStyle/>
                    <a:p>
                      <a:pPr marL="0" indent="0" algn="ctr">
                        <a:buNone/>
                      </a:pPr>
                      <a:r>
                        <a:rPr lang="en-US" sz="750" dirty="0">
                          <a:solidFill>
                            <a:srgbClr val="F8FAFC"/>
                          </a:solidFill>
                        </a:rPr>
                        <a:t>#3</a:t>
                      </a:r>
                      <a:endParaRPr lang="en-US" sz="750" dirty="0"/>
                    </a:p>
                  </a:txBody>
                  <a:tcPr anchor="ctr">
                    <a:lnL w="6350" cap="flat" cmpd="sng" algn="ctr">
                      <a:solidFill>
                        <a:srgbClr val="94A3B8"/>
                      </a:solidFill>
                      <a:prstDash val="solid"/>
                      <a:round/>
                      <a:headEnd type="none" w="med" len="med"/>
                      <a:tailEnd type="none" w="med" len="med"/>
                    </a:lnL>
                    <a:lnR w="6350" cap="flat" cmpd="sng" algn="ctr">
                      <a:solidFill>
                        <a:srgbClr val="94A3B8"/>
                      </a:solidFill>
                      <a:prstDash val="solid"/>
                      <a:round/>
                      <a:headEnd type="none" w="med" len="med"/>
                      <a:tailEnd type="none" w="med" len="med"/>
                    </a:lnR>
                    <a:lnT w="6350" cap="flat" cmpd="sng" algn="ctr">
                      <a:solidFill>
                        <a:srgbClr val="94A3B8"/>
                      </a:solidFill>
                      <a:prstDash val="solid"/>
                      <a:round/>
                      <a:headEnd type="none" w="med" len="med"/>
                      <a:tailEnd type="none" w="med" len="med"/>
                    </a:lnT>
                    <a:lnB w="6350" cap="flat" cmpd="sng" algn="ctr">
                      <a:solidFill>
                        <a:srgbClr val="94A3B8"/>
                      </a:solidFill>
                      <a:prstDash val="solid"/>
                      <a:round/>
                      <a:headEnd type="none" w="med" len="med"/>
                      <a:tailEnd type="none" w="med" len="med"/>
                    </a:lnB>
                  </a:tcPr>
                </a:tc>
                <a:tc>
                  <a:txBody>
                    <a:bodyPr/>
                    <a:lstStyle/>
                    <a:p>
                      <a:pPr marL="0" indent="0" algn="ctr">
                        <a:buNone/>
                      </a:pPr>
                      <a:r>
                        <a:rPr lang="en-US" sz="750" b="1" dirty="0">
                          <a:solidFill>
                            <a:srgbClr val="F59E0B"/>
                          </a:solidFill>
                        </a:rPr>
                        <a:t>Genetic</a:t>
                      </a:r>
                      <a:endParaRPr lang="en-US" sz="750" dirty="0"/>
                    </a:p>
                  </a:txBody>
                  <a:tcPr anchor="ctr">
                    <a:lnL w="6350" cap="flat" cmpd="sng" algn="ctr">
                      <a:solidFill>
                        <a:srgbClr val="94A3B8"/>
                      </a:solidFill>
                      <a:prstDash val="solid"/>
                      <a:round/>
                      <a:headEnd type="none" w="med" len="med"/>
                      <a:tailEnd type="none" w="med" len="med"/>
                    </a:lnL>
                    <a:lnR w="6350" cap="flat" cmpd="sng" algn="ctr">
                      <a:solidFill>
                        <a:srgbClr val="94A3B8"/>
                      </a:solidFill>
                      <a:prstDash val="solid"/>
                      <a:round/>
                      <a:headEnd type="none" w="med" len="med"/>
                      <a:tailEnd type="none" w="med" len="med"/>
                    </a:lnR>
                    <a:lnT w="6350" cap="flat" cmpd="sng" algn="ctr">
                      <a:solidFill>
                        <a:srgbClr val="94A3B8"/>
                      </a:solidFill>
                      <a:prstDash val="solid"/>
                      <a:round/>
                      <a:headEnd type="none" w="med" len="med"/>
                      <a:tailEnd type="none" w="med" len="med"/>
                    </a:lnT>
                    <a:lnB w="6350" cap="flat" cmpd="sng" algn="ctr">
                      <a:solidFill>
                        <a:srgbClr val="94A3B8"/>
                      </a:solidFill>
                      <a:prstDash val="solid"/>
                      <a:round/>
                      <a:headEnd type="none" w="med" len="med"/>
                      <a:tailEnd type="none" w="med" len="med"/>
                    </a:lnB>
                  </a:tcPr>
                </a:tc>
                <a:tc>
                  <a:txBody>
                    <a:bodyPr/>
                    <a:lstStyle/>
                    <a:p>
                      <a:pPr marL="0" indent="0" algn="ctr">
                        <a:buNone/>
                      </a:pPr>
                      <a:r>
                        <a:rPr lang="en-US" sz="750" dirty="0">
                          <a:solidFill>
                            <a:srgbClr val="F8FAFC"/>
                          </a:solidFill>
                          <a:latin typeface="Courier New" pitchFamily="34" charset="0"/>
                          <a:ea typeface="Courier New" pitchFamily="34" charset="-122"/>
                          <a:cs typeface="Courier New" pitchFamily="34" charset="-120"/>
                        </a:rPr>
                        <a:t>2.222</a:t>
                      </a:r>
                      <a:endParaRPr lang="en-US" sz="750" dirty="0">
                        <a:latin typeface="Courier New" charset="0"/>
                        <a:ea typeface="Courier New" charset="0"/>
                        <a:cs typeface="Courier New" charset="0"/>
                      </a:endParaRPr>
                    </a:p>
                  </a:txBody>
                  <a:tcPr anchor="ctr">
                    <a:lnL w="6350" cap="flat" cmpd="sng" algn="ctr">
                      <a:solidFill>
                        <a:srgbClr val="94A3B8"/>
                      </a:solidFill>
                      <a:prstDash val="solid"/>
                      <a:round/>
                      <a:headEnd type="none" w="med" len="med"/>
                      <a:tailEnd type="none" w="med" len="med"/>
                    </a:lnL>
                    <a:lnR w="6350" cap="flat" cmpd="sng" algn="ctr">
                      <a:solidFill>
                        <a:srgbClr val="94A3B8"/>
                      </a:solidFill>
                      <a:prstDash val="solid"/>
                      <a:round/>
                      <a:headEnd type="none" w="med" len="med"/>
                      <a:tailEnd type="none" w="med" len="med"/>
                    </a:lnR>
                    <a:lnT w="6350" cap="flat" cmpd="sng" algn="ctr">
                      <a:solidFill>
                        <a:srgbClr val="94A3B8"/>
                      </a:solidFill>
                      <a:prstDash val="solid"/>
                      <a:round/>
                      <a:headEnd type="none" w="med" len="med"/>
                      <a:tailEnd type="none" w="med" len="med"/>
                    </a:lnT>
                    <a:lnB w="6350" cap="flat" cmpd="sng" algn="ctr">
                      <a:solidFill>
                        <a:srgbClr val="94A3B8"/>
                      </a:solidFill>
                      <a:prstDash val="solid"/>
                      <a:round/>
                      <a:headEnd type="none" w="med" len="med"/>
                      <a:tailEnd type="none" w="med" len="med"/>
                    </a:lnB>
                  </a:tcPr>
                </a:tc>
                <a:tc>
                  <a:txBody>
                    <a:bodyPr/>
                    <a:lstStyle/>
                    <a:p>
                      <a:pPr marL="0" indent="0" algn="ctr">
                        <a:buNone/>
                      </a:pPr>
                      <a:r>
                        <a:rPr lang="en-US" sz="750" dirty="0">
                          <a:solidFill>
                            <a:srgbClr val="F8FAFC"/>
                          </a:solidFill>
                          <a:latin typeface="Courier New" pitchFamily="34" charset="0"/>
                          <a:ea typeface="Courier New" pitchFamily="34" charset="-122"/>
                          <a:cs typeface="Courier New" pitchFamily="34" charset="-120"/>
                        </a:rPr>
                        <a:t>4.320</a:t>
                      </a:r>
                      <a:endParaRPr lang="en-US" sz="750" dirty="0">
                        <a:latin typeface="Courier New" charset="0"/>
                        <a:ea typeface="Courier New" charset="0"/>
                        <a:cs typeface="Courier New" charset="0"/>
                      </a:endParaRPr>
                    </a:p>
                  </a:txBody>
                  <a:tcPr anchor="ctr">
                    <a:lnL w="6350" cap="flat" cmpd="sng" algn="ctr">
                      <a:solidFill>
                        <a:srgbClr val="94A3B8"/>
                      </a:solidFill>
                      <a:prstDash val="solid"/>
                      <a:round/>
                      <a:headEnd type="none" w="med" len="med"/>
                      <a:tailEnd type="none" w="med" len="med"/>
                    </a:lnL>
                    <a:lnR w="6350" cap="flat" cmpd="sng" algn="ctr">
                      <a:solidFill>
                        <a:srgbClr val="94A3B8"/>
                      </a:solidFill>
                      <a:prstDash val="solid"/>
                      <a:round/>
                      <a:headEnd type="none" w="med" len="med"/>
                      <a:tailEnd type="none" w="med" len="med"/>
                    </a:lnR>
                    <a:lnT w="6350" cap="flat" cmpd="sng" algn="ctr">
                      <a:solidFill>
                        <a:srgbClr val="94A3B8"/>
                      </a:solidFill>
                      <a:prstDash val="solid"/>
                      <a:round/>
                      <a:headEnd type="none" w="med" len="med"/>
                      <a:tailEnd type="none" w="med" len="med"/>
                    </a:lnT>
                    <a:lnB w="6350" cap="flat" cmpd="sng" algn="ctr">
                      <a:solidFill>
                        <a:srgbClr val="94A3B8"/>
                      </a:solidFill>
                      <a:prstDash val="solid"/>
                      <a:round/>
                      <a:headEnd type="none" w="med" len="med"/>
                      <a:tailEnd type="none" w="med" len="med"/>
                    </a:lnB>
                  </a:tcPr>
                </a:tc>
                <a:extLst>
                  <a:ext uri="{0D108BD9-81ED-4DB2-BD59-A6C34878D82A}">
                    <a16:rowId xmlns:a16="http://schemas.microsoft.com/office/drawing/2014/main" val="10003"/>
                  </a:ext>
                </a:extLst>
              </a:tr>
              <a:tr h="320032">
                <a:tc>
                  <a:txBody>
                    <a:bodyPr/>
                    <a:lstStyle/>
                    <a:p>
                      <a:pPr marL="0" indent="0" algn="ctr">
                        <a:buNone/>
                      </a:pPr>
                      <a:r>
                        <a:rPr lang="en-US" sz="750" dirty="0">
                          <a:solidFill>
                            <a:srgbClr val="F8FAFC"/>
                          </a:solidFill>
                        </a:rPr>
                        <a:t>#5</a:t>
                      </a:r>
                      <a:endParaRPr lang="en-US" sz="750" dirty="0"/>
                    </a:p>
                  </a:txBody>
                  <a:tcPr anchor="ctr">
                    <a:lnL w="6350" cap="flat" cmpd="sng" algn="ctr">
                      <a:solidFill>
                        <a:srgbClr val="94A3B8"/>
                      </a:solidFill>
                      <a:prstDash val="solid"/>
                      <a:round/>
                      <a:headEnd type="none" w="med" len="med"/>
                      <a:tailEnd type="none" w="med" len="med"/>
                    </a:lnL>
                    <a:lnR w="6350" cap="flat" cmpd="sng" algn="ctr">
                      <a:solidFill>
                        <a:srgbClr val="94A3B8"/>
                      </a:solidFill>
                      <a:prstDash val="solid"/>
                      <a:round/>
                      <a:headEnd type="none" w="med" len="med"/>
                      <a:tailEnd type="none" w="med" len="med"/>
                    </a:lnR>
                    <a:lnT w="6350" cap="flat" cmpd="sng" algn="ctr">
                      <a:solidFill>
                        <a:srgbClr val="94A3B8"/>
                      </a:solidFill>
                      <a:prstDash val="solid"/>
                      <a:round/>
                      <a:headEnd type="none" w="med" len="med"/>
                      <a:tailEnd type="none" w="med" len="med"/>
                    </a:lnT>
                    <a:lnB w="6350" cap="flat" cmpd="sng" algn="ctr">
                      <a:solidFill>
                        <a:srgbClr val="94A3B8"/>
                      </a:solidFill>
                      <a:prstDash val="solid"/>
                      <a:round/>
                      <a:headEnd type="none" w="med" len="med"/>
                      <a:tailEnd type="none" w="med" len="med"/>
                    </a:lnB>
                  </a:tcPr>
                </a:tc>
                <a:tc>
                  <a:txBody>
                    <a:bodyPr/>
                    <a:lstStyle/>
                    <a:p>
                      <a:pPr marL="0" indent="0" algn="ctr">
                        <a:buNone/>
                      </a:pPr>
                      <a:r>
                        <a:rPr lang="en-US" sz="750" b="1" dirty="0">
                          <a:solidFill>
                            <a:srgbClr val="2DD4BF"/>
                          </a:solidFill>
                        </a:rPr>
                        <a:t>RL-Bandit</a:t>
                      </a:r>
                      <a:endParaRPr lang="en-US" sz="750" dirty="0"/>
                    </a:p>
                  </a:txBody>
                  <a:tcPr anchor="ctr">
                    <a:lnL w="6350" cap="flat" cmpd="sng" algn="ctr">
                      <a:solidFill>
                        <a:srgbClr val="94A3B8"/>
                      </a:solidFill>
                      <a:prstDash val="solid"/>
                      <a:round/>
                      <a:headEnd type="none" w="med" len="med"/>
                      <a:tailEnd type="none" w="med" len="med"/>
                    </a:lnL>
                    <a:lnR w="6350" cap="flat" cmpd="sng" algn="ctr">
                      <a:solidFill>
                        <a:srgbClr val="94A3B8"/>
                      </a:solidFill>
                      <a:prstDash val="solid"/>
                      <a:round/>
                      <a:headEnd type="none" w="med" len="med"/>
                      <a:tailEnd type="none" w="med" len="med"/>
                    </a:lnR>
                    <a:lnT w="6350" cap="flat" cmpd="sng" algn="ctr">
                      <a:solidFill>
                        <a:srgbClr val="94A3B8"/>
                      </a:solidFill>
                      <a:prstDash val="solid"/>
                      <a:round/>
                      <a:headEnd type="none" w="med" len="med"/>
                      <a:tailEnd type="none" w="med" len="med"/>
                    </a:lnT>
                    <a:lnB w="6350" cap="flat" cmpd="sng" algn="ctr">
                      <a:solidFill>
                        <a:srgbClr val="94A3B8"/>
                      </a:solidFill>
                      <a:prstDash val="solid"/>
                      <a:round/>
                      <a:headEnd type="none" w="med" len="med"/>
                      <a:tailEnd type="none" w="med" len="med"/>
                    </a:lnB>
                  </a:tcPr>
                </a:tc>
                <a:tc>
                  <a:txBody>
                    <a:bodyPr/>
                    <a:lstStyle/>
                    <a:p>
                      <a:pPr marL="0" indent="0" algn="ctr">
                        <a:buNone/>
                      </a:pPr>
                      <a:r>
                        <a:rPr lang="en-US" sz="750" dirty="0">
                          <a:solidFill>
                            <a:srgbClr val="F8FAFC"/>
                          </a:solidFill>
                          <a:latin typeface="Courier New" pitchFamily="34" charset="0"/>
                          <a:ea typeface="Courier New" pitchFamily="34" charset="-122"/>
                          <a:cs typeface="Courier New" pitchFamily="34" charset="-120"/>
                        </a:rPr>
                        <a:t>2.407</a:t>
                      </a:r>
                      <a:endParaRPr lang="en-US" sz="750" dirty="0">
                        <a:latin typeface="Courier New" charset="0"/>
                        <a:ea typeface="Courier New" charset="0"/>
                        <a:cs typeface="Courier New" charset="0"/>
                      </a:endParaRPr>
                    </a:p>
                  </a:txBody>
                  <a:tcPr anchor="ctr">
                    <a:lnL w="6350" cap="flat" cmpd="sng" algn="ctr">
                      <a:solidFill>
                        <a:srgbClr val="94A3B8"/>
                      </a:solidFill>
                      <a:prstDash val="solid"/>
                      <a:round/>
                      <a:headEnd type="none" w="med" len="med"/>
                      <a:tailEnd type="none" w="med" len="med"/>
                    </a:lnL>
                    <a:lnR w="6350" cap="flat" cmpd="sng" algn="ctr">
                      <a:solidFill>
                        <a:srgbClr val="94A3B8"/>
                      </a:solidFill>
                      <a:prstDash val="solid"/>
                      <a:round/>
                      <a:headEnd type="none" w="med" len="med"/>
                      <a:tailEnd type="none" w="med" len="med"/>
                    </a:lnR>
                    <a:lnT w="6350" cap="flat" cmpd="sng" algn="ctr">
                      <a:solidFill>
                        <a:srgbClr val="94A3B8"/>
                      </a:solidFill>
                      <a:prstDash val="solid"/>
                      <a:round/>
                      <a:headEnd type="none" w="med" len="med"/>
                      <a:tailEnd type="none" w="med" len="med"/>
                    </a:lnT>
                    <a:lnB w="6350" cap="flat" cmpd="sng" algn="ctr">
                      <a:solidFill>
                        <a:srgbClr val="94A3B8"/>
                      </a:solidFill>
                      <a:prstDash val="solid"/>
                      <a:round/>
                      <a:headEnd type="none" w="med" len="med"/>
                      <a:tailEnd type="none" w="med" len="med"/>
                    </a:lnB>
                  </a:tcPr>
                </a:tc>
                <a:tc>
                  <a:txBody>
                    <a:bodyPr/>
                    <a:lstStyle/>
                    <a:p>
                      <a:pPr marL="0" indent="0" algn="ctr">
                        <a:buNone/>
                      </a:pPr>
                      <a:r>
                        <a:rPr lang="en-US" sz="750" dirty="0">
                          <a:solidFill>
                            <a:srgbClr val="F8FAFC"/>
                          </a:solidFill>
                          <a:latin typeface="Courier New" pitchFamily="34" charset="0"/>
                          <a:ea typeface="Courier New" pitchFamily="34" charset="-122"/>
                          <a:cs typeface="Courier New" pitchFamily="34" charset="-120"/>
                        </a:rPr>
                        <a:t>2.944</a:t>
                      </a:r>
                      <a:endParaRPr lang="en-US" sz="750" dirty="0">
                        <a:latin typeface="Courier New" charset="0"/>
                        <a:ea typeface="Courier New" charset="0"/>
                        <a:cs typeface="Courier New" charset="0"/>
                      </a:endParaRPr>
                    </a:p>
                  </a:txBody>
                  <a:tcPr anchor="ctr">
                    <a:lnL w="6350" cap="flat" cmpd="sng" algn="ctr">
                      <a:solidFill>
                        <a:srgbClr val="94A3B8"/>
                      </a:solidFill>
                      <a:prstDash val="solid"/>
                      <a:round/>
                      <a:headEnd type="none" w="med" len="med"/>
                      <a:tailEnd type="none" w="med" len="med"/>
                    </a:lnL>
                    <a:lnR w="6350" cap="flat" cmpd="sng" algn="ctr">
                      <a:solidFill>
                        <a:srgbClr val="94A3B8"/>
                      </a:solidFill>
                      <a:prstDash val="solid"/>
                      <a:round/>
                      <a:headEnd type="none" w="med" len="med"/>
                      <a:tailEnd type="none" w="med" len="med"/>
                    </a:lnR>
                    <a:lnT w="6350" cap="flat" cmpd="sng" algn="ctr">
                      <a:solidFill>
                        <a:srgbClr val="94A3B8"/>
                      </a:solidFill>
                      <a:prstDash val="solid"/>
                      <a:round/>
                      <a:headEnd type="none" w="med" len="med"/>
                      <a:tailEnd type="none" w="med" len="med"/>
                    </a:lnT>
                    <a:lnB w="6350" cap="flat" cmpd="sng" algn="ctr">
                      <a:solidFill>
                        <a:srgbClr val="94A3B8"/>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8" name="Text 5"/>
          <p:cNvSpPr/>
          <p:nvPr/>
        </p:nvSpPr>
        <p:spPr>
          <a:xfrm>
            <a:off x="640080" y="3667759"/>
            <a:ext cx="4384404" cy="1317172"/>
          </a:xfrm>
          <a:prstGeom prst="rect">
            <a:avLst/>
          </a:prstGeom>
          <a:noFill/>
          <a:ln/>
        </p:spPr>
        <p:txBody>
          <a:bodyPr wrap="square" lIns="91440" tIns="45720" rIns="91440" bIns="45720" rtlCol="0" anchor="ctr"/>
          <a:lstStyle/>
          <a:p>
            <a:pPr marL="0" indent="0">
              <a:buNone/>
            </a:pPr>
            <a:r>
              <a:rPr lang="en-US" sz="1200" dirty="0">
                <a:solidFill>
                  <a:srgbClr val="F8FAFC"/>
                </a:solidFill>
                <a:latin typeface="Arial"/>
                <a:ea typeface="Arial" pitchFamily="34" charset="-122"/>
                <a:cs typeface="Arial"/>
              </a:rPr>
              <a:t>• Multi-Seed Verification Checks: seeds [42, 123, 456, 789, 999] matched absolute stability R=1.0.</a:t>
            </a:r>
            <a:endParaRPr lang="en-US" sz="1200" dirty="0">
              <a:latin typeface="Arial"/>
              <a:ea typeface="Calibri"/>
              <a:cs typeface="Arial"/>
            </a:endParaRPr>
          </a:p>
          <a:p>
            <a:pPr marL="0" indent="0">
              <a:buNone/>
            </a:pPr>
            <a:endParaRPr lang="en-US" sz="1200" dirty="0">
              <a:ea typeface="Calibri"/>
              <a:cs typeface="Calibri"/>
            </a:endParaRPr>
          </a:p>
          <a:p>
            <a:pPr marL="0" indent="0">
              <a:buNone/>
            </a:pPr>
            <a:r>
              <a:rPr lang="en-US" sz="1200" dirty="0">
                <a:solidFill>
                  <a:srgbClr val="F8FAFC"/>
                </a:solidFill>
                <a:latin typeface="Arial"/>
                <a:ea typeface="Arial" pitchFamily="34" charset="-122"/>
                <a:cs typeface="Arial"/>
              </a:rPr>
              <a:t>• DQN Pilot: trains over 50 episodes on Internet2 in 1.13 seconds, mean reward converges stably at 11.385.</a:t>
            </a:r>
            <a:endParaRPr lang="en-US" sz="1200" dirty="0">
              <a:latin typeface="Arial"/>
              <a:cs typeface="Arial"/>
            </a:endParaRPr>
          </a:p>
        </p:txBody>
      </p:sp>
      <p:sp>
        <p:nvSpPr>
          <p:cNvPr id="9" name="Shape 6"/>
          <p:cNvSpPr/>
          <p:nvPr/>
        </p:nvSpPr>
        <p:spPr>
          <a:xfrm>
            <a:off x="5212443" y="1644468"/>
            <a:ext cx="3824878" cy="3341552"/>
          </a:xfrm>
          <a:prstGeom prst="rect">
            <a:avLst/>
          </a:prstGeom>
          <a:solidFill>
            <a:srgbClr val="1E293B"/>
          </a:solidFill>
          <a:ln w="19050">
            <a:solidFill>
              <a:srgbClr val="F59E0B"/>
            </a:solidFill>
            <a:prstDash val="solid"/>
          </a:ln>
        </p:spPr>
      </p:sp>
      <p:sp>
        <p:nvSpPr>
          <p:cNvPr id="10" name="Text 7"/>
          <p:cNvSpPr/>
          <p:nvPr/>
        </p:nvSpPr>
        <p:spPr>
          <a:xfrm>
            <a:off x="5214620" y="1645920"/>
            <a:ext cx="4754880" cy="274320"/>
          </a:xfrm>
          <a:prstGeom prst="rect">
            <a:avLst/>
          </a:prstGeom>
          <a:noFill/>
          <a:ln/>
        </p:spPr>
        <p:txBody>
          <a:bodyPr wrap="square" rtlCol="0" anchor="ctr"/>
          <a:lstStyle/>
          <a:p>
            <a:pPr marL="0" indent="0">
              <a:buNone/>
            </a:pPr>
            <a:r>
              <a:rPr lang="en-US" sz="1100" b="1" dirty="0">
                <a:solidFill>
                  <a:srgbClr val="F59E0B"/>
                </a:solidFill>
                <a:latin typeface="Arial" pitchFamily="34" charset="0"/>
                <a:ea typeface="Arial" pitchFamily="34" charset="-122"/>
                <a:cs typeface="Arial" pitchFamily="34" charset="-120"/>
              </a:rPr>
              <a:t>PILOT KPIS CALLOUT AND FEASIBILITY SUCCESS</a:t>
            </a:r>
            <a:endParaRPr lang="en-US" sz="1100" dirty="0"/>
          </a:p>
        </p:txBody>
      </p:sp>
      <p:sp>
        <p:nvSpPr>
          <p:cNvPr id="11" name="Text 8"/>
          <p:cNvSpPr/>
          <p:nvPr/>
        </p:nvSpPr>
        <p:spPr>
          <a:xfrm>
            <a:off x="5368834" y="1477192"/>
            <a:ext cx="3493952" cy="3524794"/>
          </a:xfrm>
          <a:prstGeom prst="rect">
            <a:avLst/>
          </a:prstGeom>
          <a:noFill/>
          <a:ln/>
        </p:spPr>
        <p:txBody>
          <a:bodyPr wrap="square" lIns="91440" tIns="45720" rIns="91440" bIns="45720" rtlCol="0" anchor="ctr"/>
          <a:lstStyle/>
          <a:p>
            <a:pPr marL="0" indent="0">
              <a:buNone/>
            </a:pPr>
            <a:r>
              <a:rPr lang="en-US" sz="1200" dirty="0">
                <a:solidFill>
                  <a:srgbClr val="F8FAFC"/>
                </a:solidFill>
                <a:latin typeface="Courier New"/>
                <a:ea typeface="Courier New" pitchFamily="34" charset="-122"/>
                <a:cs typeface="Courier New"/>
              </a:rPr>
              <a:t>• Complexity: ω = 0.0226 s/episode</a:t>
            </a:r>
            <a:endParaRPr lang="en-US" sz="1200" dirty="0">
              <a:latin typeface="Courier New"/>
              <a:ea typeface="Calibri"/>
              <a:cs typeface="Courier New"/>
            </a:endParaRPr>
          </a:p>
          <a:p>
            <a:pPr marL="0" indent="0">
              <a:buNone/>
            </a:pPr>
            <a:endParaRPr lang="en-US" sz="1200" dirty="0">
              <a:ea typeface="Calibri"/>
              <a:cs typeface="Calibri"/>
            </a:endParaRPr>
          </a:p>
          <a:p>
            <a:pPr marL="0" indent="0">
              <a:buNone/>
            </a:pPr>
            <a:r>
              <a:rPr lang="en-US" sz="1200" dirty="0">
                <a:solidFill>
                  <a:srgbClr val="F8FAFC"/>
                </a:solidFill>
                <a:latin typeface="Courier New"/>
                <a:ea typeface="Courier New" pitchFamily="34" charset="-122"/>
                <a:cs typeface="Courier New"/>
              </a:rPr>
              <a:t>• DQN pilot: 50 episodes, elapsed = 1.13s, mean reward = 11.385</a:t>
            </a:r>
            <a:endParaRPr lang="en-US" sz="1200" dirty="0">
              <a:latin typeface="Courier New"/>
              <a:ea typeface="Calibri"/>
              <a:cs typeface="Courier New"/>
            </a:endParaRPr>
          </a:p>
          <a:p>
            <a:pPr marL="0" indent="0">
              <a:buNone/>
            </a:pPr>
            <a:endParaRPr lang="en-US" sz="1200" dirty="0">
              <a:ea typeface="Calibri"/>
              <a:cs typeface="Calibri"/>
            </a:endParaRPr>
          </a:p>
          <a:p>
            <a:pPr marL="0" indent="0">
              <a:buNone/>
            </a:pPr>
            <a:r>
              <a:rPr lang="en-US" sz="1200" dirty="0">
                <a:solidFill>
                  <a:srgbClr val="F8FAFC"/>
                </a:solidFill>
                <a:latin typeface="Courier New"/>
                <a:ea typeface="Courier New" pitchFamily="34" charset="-122"/>
                <a:cs typeface="Courier New"/>
              </a:rPr>
              <a:t>• Verification: seeds [42, 123, 456, 789, 999] =&gt; </a:t>
            </a:r>
            <a:r>
              <a:rPr lang="en-US" sz="1200" dirty="0" err="1">
                <a:solidFill>
                  <a:srgbClr val="F8FAFC"/>
                </a:solidFill>
                <a:latin typeface="Courier New"/>
                <a:ea typeface="Courier New" pitchFamily="34" charset="-122"/>
                <a:cs typeface="Courier New"/>
              </a:rPr>
              <a:t>Reach_avg</a:t>
            </a:r>
            <a:r>
              <a:rPr lang="en-US" sz="1200" dirty="0">
                <a:solidFill>
                  <a:srgbClr val="F8FAFC"/>
                </a:solidFill>
                <a:latin typeface="Courier New"/>
                <a:ea typeface="Courier New" pitchFamily="34" charset="-122"/>
                <a:cs typeface="Courier New"/>
              </a:rPr>
              <a:t> = 1.0.</a:t>
            </a:r>
            <a:endParaRPr lang="en-US" sz="1200" dirty="0">
              <a:latin typeface="Courier New"/>
              <a:ea typeface="Calibri"/>
              <a:cs typeface="Courier New"/>
            </a:endParaRPr>
          </a:p>
          <a:p>
            <a:pPr marL="0" indent="0">
              <a:buNone/>
            </a:pPr>
            <a:endParaRPr lang="en-US" sz="1200" dirty="0">
              <a:ea typeface="Calibri"/>
              <a:cs typeface="Calibri"/>
            </a:endParaRPr>
          </a:p>
          <a:p>
            <a:pPr marL="0" indent="0">
              <a:buNone/>
            </a:pPr>
            <a:r>
              <a:rPr lang="en-US" sz="1200" dirty="0">
                <a:solidFill>
                  <a:srgbClr val="F8FAFC"/>
                </a:solidFill>
                <a:latin typeface="Courier New"/>
                <a:ea typeface="Courier New" pitchFamily="34" charset="-122"/>
                <a:cs typeface="Courier New"/>
              </a:rPr>
              <a:t>• Metrics storage pathways: results/</a:t>
            </a:r>
            <a:r>
              <a:rPr lang="en-US" sz="1200" dirty="0" err="1">
                <a:solidFill>
                  <a:srgbClr val="F8FAFC"/>
                </a:solidFill>
                <a:latin typeface="Courier New"/>
                <a:ea typeface="Courier New" pitchFamily="34" charset="-122"/>
                <a:cs typeface="Courier New"/>
              </a:rPr>
              <a:t>pilot_metrics.json</a:t>
            </a:r>
            <a:r>
              <a:rPr lang="en-US" sz="1200" dirty="0">
                <a:solidFill>
                  <a:srgbClr val="F8FAFC"/>
                </a:solidFill>
                <a:latin typeface="Courier New"/>
                <a:ea typeface="Courier New" pitchFamily="34" charset="-122"/>
                <a:cs typeface="Courier New"/>
              </a:rPr>
              <a:t>, results/</a:t>
            </a:r>
            <a:r>
              <a:rPr lang="en-US" sz="1200" dirty="0" err="1">
                <a:solidFill>
                  <a:srgbClr val="F8FAFC"/>
                </a:solidFill>
                <a:latin typeface="Courier New"/>
                <a:ea typeface="Courier New" pitchFamily="34" charset="-122"/>
                <a:cs typeface="Courier New"/>
              </a:rPr>
              <a:t>rl_analysis</a:t>
            </a:r>
            <a:r>
              <a:rPr lang="en-US" sz="1200" dirty="0">
                <a:solidFill>
                  <a:srgbClr val="F8FAFC"/>
                </a:solidFill>
                <a:latin typeface="Courier New"/>
                <a:ea typeface="Courier New" pitchFamily="34" charset="-122"/>
                <a:cs typeface="Courier New"/>
              </a:rPr>
              <a:t>/pareto/</a:t>
            </a:r>
            <a:r>
              <a:rPr lang="en-US" sz="1200" dirty="0" err="1">
                <a:solidFill>
                  <a:srgbClr val="F8FAFC"/>
                </a:solidFill>
                <a:latin typeface="Courier New"/>
                <a:ea typeface="Courier New" pitchFamily="34" charset="-122"/>
                <a:cs typeface="Courier New"/>
              </a:rPr>
              <a:t>pareto_shortlist.json</a:t>
            </a:r>
            <a:endParaRPr lang="en-US" sz="1200" dirty="0" err="1">
              <a:latin typeface="Courier New"/>
              <a:cs typeface="Courier New"/>
            </a:endParaRPr>
          </a:p>
        </p:txBody>
      </p:sp>
      <p:sp>
        <p:nvSpPr>
          <p:cNvPr id="12" name="Text 9"/>
          <p:cNvSpPr/>
          <p:nvPr/>
        </p:nvSpPr>
        <p:spPr>
          <a:xfrm>
            <a:off x="457200" y="5669280"/>
            <a:ext cx="11247120" cy="457200"/>
          </a:xfrm>
          <a:prstGeom prst="rect">
            <a:avLst/>
          </a:prstGeom>
          <a:noFill/>
          <a:ln/>
        </p:spPr>
        <p:txBody>
          <a:bodyPr wrap="square" rtlCol="0" anchor="ctr"/>
          <a:lstStyle/>
          <a:p>
            <a:pPr marL="0" indent="0">
              <a:buNone/>
            </a:pPr>
            <a:r>
              <a:rPr lang="en-US" sz="1000" i="1" dirty="0">
                <a:solidFill>
                  <a:srgbClr val="F59E0B"/>
                </a:solidFill>
                <a:latin typeface="Arial" pitchFamily="34" charset="0"/>
                <a:ea typeface="Arial" pitchFamily="34" charset="-122"/>
                <a:cs typeface="Arial" pitchFamily="34" charset="-120"/>
              </a:rPr>
              <a:t>SO WHAT? Feasibility has been validated through robust pilot convergence.</a:t>
            </a:r>
            <a:endParaRPr lang="en-US" sz="1000" dirty="0"/>
          </a:p>
        </p:txBody>
      </p:sp>
      <p:sp>
        <p:nvSpPr>
          <p:cNvPr id="13" name="Text 10"/>
          <p:cNvSpPr/>
          <p:nvPr/>
        </p:nvSpPr>
        <p:spPr>
          <a:xfrm>
            <a:off x="5720443" y="347617"/>
            <a:ext cx="3017520" cy="274320"/>
          </a:xfrm>
          <a:prstGeom prst="rect">
            <a:avLst/>
          </a:prstGeom>
          <a:noFill/>
          <a:ln/>
        </p:spPr>
        <p:txBody>
          <a:bodyPr wrap="square" rtlCol="0" anchor="ctr"/>
          <a:lstStyle/>
          <a:p>
            <a:pPr marL="0" indent="0" algn="r">
              <a:buNone/>
            </a:pPr>
            <a:r>
              <a:rPr lang="en-US" sz="900" b="1" dirty="0">
                <a:solidFill>
                  <a:srgbClr val="F59E0B"/>
                </a:solidFill>
                <a:latin typeface="Courier New" pitchFamily="34" charset="0"/>
                <a:ea typeface="Courier New" pitchFamily="34" charset="-122"/>
                <a:cs typeface="Courier New" pitchFamily="34" charset="-120"/>
              </a:rPr>
              <a:t>Target Duration: 1:15</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457200" y="365760"/>
            <a:ext cx="11247120" cy="274320"/>
          </a:xfrm>
          <a:prstGeom prst="rect">
            <a:avLst/>
          </a:prstGeom>
          <a:noFill/>
          <a:ln/>
        </p:spPr>
        <p:txBody>
          <a:bodyPr wrap="square" lIns="91440" tIns="45720" rIns="91440" bIns="45720" rtlCol="0" anchor="ctr"/>
          <a:lstStyle/>
          <a:p>
            <a:pPr marL="0" indent="0">
              <a:buNone/>
            </a:pPr>
            <a:r>
              <a:rPr lang="en-US" sz="1200" b="1" dirty="0">
                <a:solidFill>
                  <a:srgbClr val="2DD4BF"/>
                </a:solidFill>
                <a:latin typeface="Arial"/>
                <a:ea typeface="Arial" pitchFamily="34" charset="-122"/>
                <a:cs typeface="Arial"/>
              </a:rPr>
              <a:t>PHASE-6 EXPERIMENTAL VALIDATION • MININET EMULATION CHECKS</a:t>
            </a:r>
            <a:endParaRPr lang="en-US" sz="1200">
              <a:latin typeface="Arial"/>
              <a:ea typeface="Calibri"/>
              <a:cs typeface="Arial"/>
            </a:endParaRPr>
          </a:p>
        </p:txBody>
      </p:sp>
      <p:sp>
        <p:nvSpPr>
          <p:cNvPr id="3" name="Text 1"/>
          <p:cNvSpPr/>
          <p:nvPr/>
        </p:nvSpPr>
        <p:spPr>
          <a:xfrm>
            <a:off x="457200" y="640080"/>
            <a:ext cx="11247120" cy="365760"/>
          </a:xfrm>
          <a:prstGeom prst="rect">
            <a:avLst/>
          </a:prstGeom>
          <a:noFill/>
          <a:ln/>
        </p:spPr>
        <p:txBody>
          <a:bodyPr wrap="square" rtlCol="0" anchor="ctr"/>
          <a:lstStyle/>
          <a:p>
            <a:pPr marL="0" indent="0">
              <a:buNone/>
            </a:pPr>
            <a:r>
              <a:rPr lang="en-US" sz="2000" b="1" dirty="0">
                <a:solidFill>
                  <a:srgbClr val="F8FAFC"/>
                </a:solidFill>
                <a:latin typeface="Helvetica" pitchFamily="34" charset="0"/>
                <a:ea typeface="Helvetica" pitchFamily="34" charset="-122"/>
                <a:cs typeface="Helvetica" pitchFamily="34" charset="-120"/>
              </a:rPr>
              <a:t>Phase-6 Validation: Mininet Emulation Checks</a:t>
            </a:r>
            <a:endParaRPr lang="en-US" sz="2000" dirty="0"/>
          </a:p>
        </p:txBody>
      </p:sp>
      <p:sp>
        <p:nvSpPr>
          <p:cNvPr id="4" name="Text 2"/>
          <p:cNvSpPr/>
          <p:nvPr/>
        </p:nvSpPr>
        <p:spPr>
          <a:xfrm>
            <a:off x="457200" y="1051560"/>
            <a:ext cx="11247120" cy="411480"/>
          </a:xfrm>
          <a:prstGeom prst="rect">
            <a:avLst/>
          </a:prstGeom>
          <a:noFill/>
          <a:ln/>
        </p:spPr>
        <p:txBody>
          <a:bodyPr wrap="square" lIns="91440" tIns="45720" rIns="91440" bIns="45720" rtlCol="0" anchor="ctr"/>
          <a:lstStyle/>
          <a:p>
            <a:pPr marL="0" indent="0">
              <a:buNone/>
            </a:pPr>
            <a:r>
              <a:rPr lang="en-US" sz="1200" dirty="0">
                <a:solidFill>
                  <a:srgbClr val="94A3B8"/>
                </a:solidFill>
                <a:latin typeface="Arial"/>
                <a:ea typeface="Arial" pitchFamily="34" charset="-122"/>
                <a:cs typeface="Arial"/>
              </a:rPr>
              <a:t>Theoretical Graph Distance vs. Physical Linux Namespace RTT Translation</a:t>
            </a:r>
            <a:endParaRPr lang="en-US" sz="1200">
              <a:latin typeface="Arial"/>
              <a:ea typeface="Calibri"/>
              <a:cs typeface="Arial"/>
            </a:endParaRPr>
          </a:p>
        </p:txBody>
      </p:sp>
      <p:sp>
        <p:nvSpPr>
          <p:cNvPr id="5" name="Shape 3"/>
          <p:cNvSpPr/>
          <p:nvPr/>
        </p:nvSpPr>
        <p:spPr>
          <a:xfrm>
            <a:off x="457198" y="1918062"/>
            <a:ext cx="4169594" cy="2977247"/>
          </a:xfrm>
          <a:prstGeom prst="rect">
            <a:avLst/>
          </a:prstGeom>
          <a:solidFill>
            <a:srgbClr val="1E293B"/>
          </a:solidFill>
          <a:ln w="25400">
            <a:solidFill>
              <a:srgbClr val="2DD4BF"/>
            </a:solidFill>
            <a:prstDash val="solid"/>
          </a:ln>
        </p:spPr>
      </p:sp>
      <p:sp>
        <p:nvSpPr>
          <p:cNvPr id="6" name="Text 4"/>
          <p:cNvSpPr/>
          <p:nvPr/>
        </p:nvSpPr>
        <p:spPr>
          <a:xfrm>
            <a:off x="486591" y="1920240"/>
            <a:ext cx="4754880" cy="365760"/>
          </a:xfrm>
          <a:prstGeom prst="rect">
            <a:avLst/>
          </a:prstGeom>
          <a:noFill/>
          <a:ln/>
        </p:spPr>
        <p:txBody>
          <a:bodyPr wrap="square" rtlCol="0" anchor="ctr"/>
          <a:lstStyle/>
          <a:p>
            <a:pPr marL="0" indent="0">
              <a:buNone/>
            </a:pPr>
            <a:r>
              <a:rPr lang="en-US" sz="1200" b="1" dirty="0">
                <a:solidFill>
                  <a:srgbClr val="2DD4BF"/>
                </a:solidFill>
                <a:latin typeface="Arial" pitchFamily="34" charset="0"/>
                <a:ea typeface="Arial" pitchFamily="34" charset="-122"/>
                <a:cs typeface="Arial" pitchFamily="34" charset="-120"/>
              </a:rPr>
              <a:t>DEFENSIBLE INTERNET2 EMULATOR CHECK</a:t>
            </a:r>
            <a:endParaRPr lang="en-US" sz="1200" dirty="0"/>
          </a:p>
        </p:txBody>
      </p:sp>
      <p:sp>
        <p:nvSpPr>
          <p:cNvPr id="7" name="Text 5"/>
          <p:cNvSpPr/>
          <p:nvPr/>
        </p:nvSpPr>
        <p:spPr>
          <a:xfrm>
            <a:off x="468449" y="2278379"/>
            <a:ext cx="4165237" cy="2280558"/>
          </a:xfrm>
          <a:prstGeom prst="rect">
            <a:avLst/>
          </a:prstGeom>
          <a:noFill/>
          <a:ln/>
        </p:spPr>
        <p:txBody>
          <a:bodyPr wrap="square" lIns="91440" tIns="45720" rIns="91440" bIns="45720" rtlCol="0" anchor="ctr"/>
          <a:lstStyle/>
          <a:p>
            <a:pPr marL="0" indent="0">
              <a:buNone/>
            </a:pPr>
            <a:r>
              <a:rPr lang="en-US" sz="1200" dirty="0">
                <a:solidFill>
                  <a:srgbClr val="F8FAFC"/>
                </a:solidFill>
                <a:latin typeface="Arial"/>
                <a:ea typeface="Arial" pitchFamily="34" charset="-122"/>
                <a:cs typeface="Arial"/>
              </a:rPr>
              <a:t>• Allocation: Internet2 topology‑native greedy k‑center search correctly places three controllers at switch coords [0, 8, 6].</a:t>
            </a:r>
            <a:endParaRPr lang="en-US" sz="1200" dirty="0">
              <a:latin typeface="Arial"/>
              <a:ea typeface="Calibri"/>
              <a:cs typeface="Arial"/>
            </a:endParaRPr>
          </a:p>
          <a:p>
            <a:pPr marL="0" indent="0">
              <a:buNone/>
            </a:pPr>
            <a:endParaRPr lang="en-US" sz="1200" dirty="0">
              <a:ea typeface="Calibri"/>
              <a:cs typeface="Calibri"/>
            </a:endParaRPr>
          </a:p>
          <a:p>
            <a:pPr marL="0" indent="0">
              <a:buNone/>
            </a:pPr>
            <a:r>
              <a:rPr lang="en-US" sz="1200" dirty="0">
                <a:solidFill>
                  <a:srgbClr val="F8FAFC"/>
                </a:solidFill>
                <a:latin typeface="Arial"/>
                <a:ea typeface="Arial" pitchFamily="34" charset="-122"/>
                <a:cs typeface="Arial"/>
              </a:rPr>
              <a:t>• Backup Coverage: </a:t>
            </a:r>
            <a:r>
              <a:rPr lang="en-US" sz="1200" dirty="0" err="1">
                <a:solidFill>
                  <a:srgbClr val="F8FAFC"/>
                </a:solidFill>
                <a:latin typeface="Arial"/>
                <a:ea typeface="Arial" pitchFamily="34" charset="-122"/>
                <a:cs typeface="Arial"/>
              </a:rPr>
              <a:t>Reach_avg</a:t>
            </a:r>
            <a:r>
              <a:rPr lang="en-US" sz="1200" dirty="0">
                <a:solidFill>
                  <a:srgbClr val="F8FAFC"/>
                </a:solidFill>
                <a:latin typeface="Arial"/>
                <a:ea typeface="Arial" pitchFamily="34" charset="-122"/>
                <a:cs typeface="Arial"/>
              </a:rPr>
              <a:t> = 1.0 achieved under single link fail stresses.</a:t>
            </a:r>
            <a:endParaRPr lang="en-US" sz="1200" dirty="0">
              <a:latin typeface="Arial"/>
              <a:ea typeface="Calibri"/>
              <a:cs typeface="Arial"/>
            </a:endParaRPr>
          </a:p>
          <a:p>
            <a:pPr marL="0" indent="0">
              <a:buNone/>
            </a:pPr>
            <a:endParaRPr lang="en-US" sz="1200" dirty="0">
              <a:ea typeface="Calibri"/>
              <a:cs typeface="Calibri"/>
            </a:endParaRPr>
          </a:p>
          <a:p>
            <a:pPr marL="0" indent="0">
              <a:buNone/>
            </a:pPr>
            <a:r>
              <a:rPr lang="en-US" sz="1200" dirty="0">
                <a:solidFill>
                  <a:srgbClr val="F8FAFC"/>
                </a:solidFill>
                <a:latin typeface="Arial"/>
                <a:ea typeface="Arial" pitchFamily="34" charset="-122"/>
                <a:cs typeface="Arial"/>
              </a:rPr>
              <a:t>• Latency: Best RTT achieved = 4.415ms under active background saturation levels.</a:t>
            </a:r>
            <a:endParaRPr lang="en-US" sz="1200" dirty="0">
              <a:latin typeface="Arial"/>
              <a:ea typeface="Calibri"/>
              <a:cs typeface="Arial"/>
            </a:endParaRPr>
          </a:p>
          <a:p>
            <a:pPr marL="0" indent="0">
              <a:buNone/>
            </a:pPr>
            <a:endParaRPr lang="en-US" sz="1200" dirty="0">
              <a:ea typeface="Calibri"/>
              <a:cs typeface="Calibri"/>
            </a:endParaRPr>
          </a:p>
          <a:p>
            <a:pPr marL="0" indent="0">
              <a:buNone/>
            </a:pPr>
            <a:r>
              <a:rPr lang="en-US" sz="1200" dirty="0">
                <a:solidFill>
                  <a:srgbClr val="F8FAFC"/>
                </a:solidFill>
                <a:latin typeface="Arial"/>
                <a:ea typeface="Arial" pitchFamily="34" charset="-122"/>
                <a:cs typeface="Arial"/>
              </a:rPr>
              <a:t>• Translation Overhead: </a:t>
            </a:r>
            <a:r>
              <a:rPr lang="en-US" sz="1200" dirty="0" err="1">
                <a:solidFill>
                  <a:srgbClr val="F8FAFC"/>
                </a:solidFill>
                <a:latin typeface="Arial"/>
                <a:ea typeface="Arial" pitchFamily="34" charset="-122"/>
                <a:cs typeface="Arial"/>
              </a:rPr>
              <a:t>rtt</a:t>
            </a:r>
            <a:r>
              <a:rPr lang="en-US" sz="1200" dirty="0">
                <a:solidFill>
                  <a:srgbClr val="F8FAFC"/>
                </a:solidFill>
                <a:latin typeface="Arial"/>
                <a:ea typeface="Arial" pitchFamily="34" charset="-122"/>
                <a:cs typeface="Arial"/>
              </a:rPr>
              <a:t>-graph delta ≈ 2.19ms represents network stack scheduling delay.</a:t>
            </a:r>
            <a:endParaRPr lang="en-US" sz="1200" dirty="0">
              <a:latin typeface="Arial"/>
              <a:cs typeface="Arial"/>
            </a:endParaRPr>
          </a:p>
        </p:txBody>
      </p:sp>
      <p:sp>
        <p:nvSpPr>
          <p:cNvPr id="8" name="Shape 6"/>
          <p:cNvSpPr/>
          <p:nvPr/>
        </p:nvSpPr>
        <p:spPr>
          <a:xfrm>
            <a:off x="5003800" y="1927134"/>
            <a:ext cx="4051662" cy="2977243"/>
          </a:xfrm>
          <a:prstGeom prst="rect">
            <a:avLst/>
          </a:prstGeom>
          <a:solidFill>
            <a:srgbClr val="1E293B"/>
          </a:solidFill>
          <a:ln w="25400">
            <a:solidFill>
              <a:srgbClr val="F59E0B"/>
            </a:solidFill>
            <a:prstDash val="solid"/>
          </a:ln>
        </p:spPr>
      </p:sp>
      <p:sp>
        <p:nvSpPr>
          <p:cNvPr id="9" name="Text 7"/>
          <p:cNvSpPr/>
          <p:nvPr/>
        </p:nvSpPr>
        <p:spPr>
          <a:xfrm>
            <a:off x="5005977" y="1920240"/>
            <a:ext cx="4754880" cy="365760"/>
          </a:xfrm>
          <a:prstGeom prst="rect">
            <a:avLst/>
          </a:prstGeom>
          <a:noFill/>
          <a:ln/>
        </p:spPr>
        <p:txBody>
          <a:bodyPr wrap="square" rtlCol="0" anchor="ctr"/>
          <a:lstStyle/>
          <a:p>
            <a:pPr marL="0" indent="0">
              <a:buNone/>
            </a:pPr>
            <a:r>
              <a:rPr lang="en-US" sz="1200" b="1" dirty="0">
                <a:solidFill>
                  <a:srgbClr val="F59E0B"/>
                </a:solidFill>
                <a:latin typeface="Arial" pitchFamily="34" charset="0"/>
                <a:ea typeface="Arial" pitchFamily="34" charset="-122"/>
                <a:cs typeface="Arial" pitchFamily="34" charset="-120"/>
              </a:rPr>
              <a:t>TRANSLATION INTERPRETATION AND INSIGHT</a:t>
            </a:r>
            <a:endParaRPr lang="en-US" sz="1200" dirty="0"/>
          </a:p>
        </p:txBody>
      </p:sp>
      <p:sp>
        <p:nvSpPr>
          <p:cNvPr id="10" name="Text 8"/>
          <p:cNvSpPr/>
          <p:nvPr/>
        </p:nvSpPr>
        <p:spPr>
          <a:xfrm>
            <a:off x="5105763" y="1743166"/>
            <a:ext cx="3929380" cy="3142342"/>
          </a:xfrm>
          <a:prstGeom prst="rect">
            <a:avLst/>
          </a:prstGeom>
          <a:noFill/>
          <a:ln/>
        </p:spPr>
        <p:txBody>
          <a:bodyPr wrap="square" lIns="91440" tIns="45720" rIns="91440" bIns="45720" rtlCol="0" anchor="ctr"/>
          <a:lstStyle/>
          <a:p>
            <a:pPr marL="0" indent="0">
              <a:buNone/>
            </a:pPr>
            <a:r>
              <a:rPr lang="en-US" sz="1200" dirty="0">
                <a:solidFill>
                  <a:srgbClr val="F8FAFC"/>
                </a:solidFill>
                <a:latin typeface="Arial"/>
                <a:ea typeface="Arial" pitchFamily="34" charset="-122"/>
                <a:cs typeface="Arial"/>
              </a:rPr>
              <a:t>• Graph‑to‑emulator delta is small, fully quantified, and justified: Standard loopback transport layer adds predictable scheduling lag.</a:t>
            </a:r>
            <a:endParaRPr lang="en-US" sz="1200" dirty="0">
              <a:latin typeface="Arial"/>
              <a:ea typeface="Calibri"/>
              <a:cs typeface="Arial"/>
            </a:endParaRPr>
          </a:p>
          <a:p>
            <a:pPr marL="0" indent="0">
              <a:buNone/>
            </a:pPr>
            <a:endParaRPr lang="en-US" sz="1200" dirty="0">
              <a:ea typeface="Calibri"/>
              <a:cs typeface="Calibri"/>
            </a:endParaRPr>
          </a:p>
          <a:p>
            <a:pPr marL="0" indent="0">
              <a:buNone/>
            </a:pPr>
            <a:r>
              <a:rPr lang="en-US" sz="1200" dirty="0">
                <a:solidFill>
                  <a:srgbClr val="F8FAFC"/>
                </a:solidFill>
                <a:latin typeface="Arial"/>
                <a:ea typeface="Arial" pitchFamily="34" charset="-122"/>
                <a:cs typeface="Arial"/>
              </a:rPr>
              <a:t>• Demonstrates high data reliability: Theory transfers safely to physical namespaces.</a:t>
            </a:r>
            <a:endParaRPr lang="en-US" sz="1200" dirty="0">
              <a:latin typeface="Arial"/>
              <a:ea typeface="Calibri"/>
              <a:cs typeface="Arial"/>
            </a:endParaRPr>
          </a:p>
          <a:p>
            <a:pPr marL="0" indent="0">
              <a:buNone/>
            </a:pPr>
            <a:endParaRPr lang="en-US" sz="1200" dirty="0">
              <a:ea typeface="Calibri"/>
              <a:cs typeface="Calibri"/>
            </a:endParaRPr>
          </a:p>
          <a:p>
            <a:pPr marL="0" indent="0">
              <a:buNone/>
            </a:pPr>
            <a:r>
              <a:rPr lang="en-US" sz="1200" dirty="0">
                <a:solidFill>
                  <a:srgbClr val="F8FAFC"/>
                </a:solidFill>
                <a:latin typeface="Arial"/>
                <a:ea typeface="Arial" pitchFamily="34" charset="-122"/>
                <a:cs typeface="Arial"/>
              </a:rPr>
              <a:t>• Confirms statistical credibility: Eliminates pure mathematical larping.</a:t>
            </a:r>
            <a:endParaRPr lang="en-US" sz="1200" dirty="0">
              <a:latin typeface="Arial"/>
              <a:cs typeface="Arial"/>
            </a:endParaRPr>
          </a:p>
        </p:txBody>
      </p:sp>
      <p:sp>
        <p:nvSpPr>
          <p:cNvPr id="11" name="Text 9"/>
          <p:cNvSpPr/>
          <p:nvPr/>
        </p:nvSpPr>
        <p:spPr>
          <a:xfrm>
            <a:off x="457200" y="5486400"/>
            <a:ext cx="11247120" cy="365760"/>
          </a:xfrm>
          <a:prstGeom prst="rect">
            <a:avLst/>
          </a:prstGeom>
          <a:noFill/>
          <a:ln/>
        </p:spPr>
        <p:txBody>
          <a:bodyPr wrap="square" rtlCol="0" anchor="ctr"/>
          <a:lstStyle/>
          <a:p>
            <a:pPr marL="0" indent="0">
              <a:buNone/>
            </a:pPr>
            <a:r>
              <a:rPr lang="en-US" sz="1000" i="1" dirty="0">
                <a:solidFill>
                  <a:srgbClr val="F59E0B"/>
                </a:solidFill>
                <a:latin typeface="Arial" pitchFamily="34" charset="0"/>
                <a:ea typeface="Arial" pitchFamily="34" charset="-122"/>
                <a:cs typeface="Arial" pitchFamily="34" charset="-120"/>
              </a:rPr>
              <a:t>SO WHAT? Real physical namespaces match theoretical optimizations.</a:t>
            </a:r>
            <a:endParaRPr lang="en-US" sz="1000" dirty="0"/>
          </a:p>
        </p:txBody>
      </p:sp>
      <p:sp>
        <p:nvSpPr>
          <p:cNvPr id="12" name="Text 10"/>
          <p:cNvSpPr/>
          <p:nvPr/>
        </p:nvSpPr>
        <p:spPr>
          <a:xfrm>
            <a:off x="8686800" y="365760"/>
            <a:ext cx="3017520" cy="274320"/>
          </a:xfrm>
          <a:prstGeom prst="rect">
            <a:avLst/>
          </a:prstGeom>
          <a:noFill/>
          <a:ln/>
        </p:spPr>
        <p:txBody>
          <a:bodyPr wrap="square" rtlCol="0" anchor="ctr"/>
          <a:lstStyle/>
          <a:p>
            <a:pPr marL="0" indent="0" algn="r">
              <a:buNone/>
            </a:pPr>
            <a:r>
              <a:rPr lang="en-US" sz="900" b="1" dirty="0">
                <a:solidFill>
                  <a:srgbClr val="F59E0B"/>
                </a:solidFill>
                <a:latin typeface="Courier New" pitchFamily="34" charset="0"/>
                <a:ea typeface="Courier New" pitchFamily="34" charset="-122"/>
                <a:cs typeface="Courier New" pitchFamily="34" charset="-120"/>
              </a:rPr>
              <a:t>Target Duration: 0:55</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457200" y="365760"/>
            <a:ext cx="11247120" cy="274320"/>
          </a:xfrm>
          <a:prstGeom prst="rect">
            <a:avLst/>
          </a:prstGeom>
          <a:noFill/>
          <a:ln/>
        </p:spPr>
        <p:txBody>
          <a:bodyPr wrap="square" lIns="91440" tIns="45720" rIns="91440" bIns="45720" rtlCol="0" anchor="ctr"/>
          <a:lstStyle/>
          <a:p>
            <a:pPr marL="0" indent="0">
              <a:buNone/>
            </a:pPr>
            <a:r>
              <a:rPr lang="en-US" sz="1200" b="1" dirty="0">
                <a:solidFill>
                  <a:srgbClr val="2DD4BF"/>
                </a:solidFill>
                <a:latin typeface="Arial"/>
                <a:ea typeface="Arial" pitchFamily="34" charset="-122"/>
                <a:cs typeface="Arial"/>
              </a:rPr>
              <a:t>EXPECTED CONTRIBUTION &amp; STUDY SIGNIFICANCE • RUBRIC ALIGNMENT</a:t>
            </a:r>
            <a:endParaRPr lang="en-US" sz="1200">
              <a:latin typeface="Arial"/>
              <a:ea typeface="Calibri"/>
              <a:cs typeface="Arial"/>
            </a:endParaRPr>
          </a:p>
        </p:txBody>
      </p:sp>
      <p:sp>
        <p:nvSpPr>
          <p:cNvPr id="3" name="Text 1"/>
          <p:cNvSpPr/>
          <p:nvPr/>
        </p:nvSpPr>
        <p:spPr>
          <a:xfrm>
            <a:off x="457200" y="640080"/>
            <a:ext cx="11247120" cy="365760"/>
          </a:xfrm>
          <a:prstGeom prst="rect">
            <a:avLst/>
          </a:prstGeom>
          <a:noFill/>
          <a:ln/>
        </p:spPr>
        <p:txBody>
          <a:bodyPr wrap="square" rtlCol="0" anchor="ctr"/>
          <a:lstStyle/>
          <a:p>
            <a:pPr marL="0" indent="0">
              <a:buNone/>
            </a:pPr>
            <a:r>
              <a:rPr lang="en-US" sz="2000" b="1" dirty="0">
                <a:solidFill>
                  <a:srgbClr val="F8FAFC"/>
                </a:solidFill>
                <a:latin typeface="Helvetica" pitchFamily="34" charset="0"/>
                <a:ea typeface="Helvetica" pitchFamily="34" charset="-122"/>
                <a:cs typeface="Helvetica" pitchFamily="34" charset="-120"/>
              </a:rPr>
              <a:t>Expected Contribution &amp; Study Significance</a:t>
            </a:r>
            <a:endParaRPr lang="en-US" sz="2000" dirty="0"/>
          </a:p>
        </p:txBody>
      </p:sp>
      <p:sp>
        <p:nvSpPr>
          <p:cNvPr id="4" name="Text 2"/>
          <p:cNvSpPr/>
          <p:nvPr/>
        </p:nvSpPr>
        <p:spPr>
          <a:xfrm>
            <a:off x="457200" y="1051560"/>
            <a:ext cx="11247120" cy="411480"/>
          </a:xfrm>
          <a:prstGeom prst="rect">
            <a:avLst/>
          </a:prstGeom>
          <a:noFill/>
          <a:ln/>
        </p:spPr>
        <p:txBody>
          <a:bodyPr wrap="square" lIns="91440" tIns="45720" rIns="91440" bIns="45720" rtlCol="0" anchor="ctr"/>
          <a:lstStyle/>
          <a:p>
            <a:pPr marL="0" indent="0">
              <a:buNone/>
            </a:pPr>
            <a:r>
              <a:rPr lang="en-US" sz="1200" dirty="0">
                <a:solidFill>
                  <a:srgbClr val="94A3B8"/>
                </a:solidFill>
                <a:latin typeface="Arial"/>
                <a:ea typeface="Arial" pitchFamily="34" charset="-122"/>
                <a:cs typeface="Arial"/>
              </a:rPr>
              <a:t>Elevating Scientific and Operational Distributed SDN Benchmarking</a:t>
            </a:r>
            <a:endParaRPr lang="en-US" sz="1200">
              <a:latin typeface="Arial"/>
              <a:ea typeface="Calibri"/>
              <a:cs typeface="Arial"/>
            </a:endParaRPr>
          </a:p>
        </p:txBody>
      </p:sp>
      <p:sp>
        <p:nvSpPr>
          <p:cNvPr id="5" name="Shape 3"/>
          <p:cNvSpPr/>
          <p:nvPr/>
        </p:nvSpPr>
        <p:spPr>
          <a:xfrm>
            <a:off x="457200" y="1908990"/>
            <a:ext cx="3879306" cy="2578103"/>
          </a:xfrm>
          <a:prstGeom prst="rect">
            <a:avLst/>
          </a:prstGeom>
          <a:solidFill>
            <a:srgbClr val="1E293B"/>
          </a:solidFill>
          <a:ln w="25400">
            <a:solidFill>
              <a:srgbClr val="2DD4BF"/>
            </a:solidFill>
            <a:prstDash val="solid"/>
          </a:ln>
        </p:spPr>
      </p:sp>
      <p:sp>
        <p:nvSpPr>
          <p:cNvPr id="6" name="Text 4"/>
          <p:cNvSpPr/>
          <p:nvPr/>
        </p:nvSpPr>
        <p:spPr>
          <a:xfrm>
            <a:off x="731520" y="1920240"/>
            <a:ext cx="4754880" cy="365760"/>
          </a:xfrm>
          <a:prstGeom prst="rect">
            <a:avLst/>
          </a:prstGeom>
          <a:noFill/>
          <a:ln/>
        </p:spPr>
        <p:txBody>
          <a:bodyPr wrap="square" rtlCol="0" anchor="ctr"/>
          <a:lstStyle/>
          <a:p>
            <a:pPr marL="0" indent="0">
              <a:buNone/>
            </a:pPr>
            <a:r>
              <a:rPr lang="en-US" sz="1200" b="1" dirty="0">
                <a:solidFill>
                  <a:srgbClr val="2DD4BF"/>
                </a:solidFill>
                <a:latin typeface="Arial" pitchFamily="34" charset="0"/>
                <a:ea typeface="Arial" pitchFamily="34" charset="-122"/>
                <a:cs typeface="Arial" pitchFamily="34" charset="-120"/>
              </a:rPr>
              <a:t>INTELLECTUAL ACADEMIC CONTRIBUTIONS</a:t>
            </a:r>
            <a:endParaRPr lang="en-US" sz="1200" dirty="0"/>
          </a:p>
        </p:txBody>
      </p:sp>
      <p:sp>
        <p:nvSpPr>
          <p:cNvPr id="7" name="Text 5"/>
          <p:cNvSpPr/>
          <p:nvPr/>
        </p:nvSpPr>
        <p:spPr>
          <a:xfrm>
            <a:off x="459379" y="1915523"/>
            <a:ext cx="3884022" cy="2443844"/>
          </a:xfrm>
          <a:prstGeom prst="rect">
            <a:avLst/>
          </a:prstGeom>
          <a:noFill/>
          <a:ln/>
        </p:spPr>
        <p:txBody>
          <a:bodyPr wrap="square" lIns="91440" tIns="45720" rIns="91440" bIns="45720" rtlCol="0" anchor="ctr"/>
          <a:lstStyle/>
          <a:p>
            <a:pPr marL="0" indent="0">
              <a:buNone/>
            </a:pPr>
            <a:r>
              <a:rPr lang="en-US" sz="1200" dirty="0">
                <a:solidFill>
                  <a:srgbClr val="F8FAFC"/>
                </a:solidFill>
                <a:latin typeface="Arial"/>
                <a:ea typeface="Arial" pitchFamily="34" charset="-122"/>
                <a:cs typeface="Arial"/>
              </a:rPr>
              <a:t>1) Theoretical: MOCO pipeline + Complexity Tax framing (ω) — formal decision rule.</a:t>
            </a:r>
            <a:endParaRPr lang="en-US" sz="1200" dirty="0">
              <a:latin typeface="Arial"/>
              <a:ea typeface="Calibri"/>
              <a:cs typeface="Arial"/>
            </a:endParaRPr>
          </a:p>
          <a:p>
            <a:pPr marL="0" indent="0">
              <a:buNone/>
            </a:pPr>
            <a:endParaRPr lang="en-US" sz="1200" dirty="0">
              <a:ea typeface="Calibri"/>
              <a:cs typeface="Calibri"/>
            </a:endParaRPr>
          </a:p>
          <a:p>
            <a:pPr marL="0" indent="0">
              <a:buNone/>
            </a:pPr>
            <a:r>
              <a:rPr lang="en-US" sz="1200" dirty="0">
                <a:solidFill>
                  <a:srgbClr val="F8FAFC"/>
                </a:solidFill>
                <a:latin typeface="Arial"/>
                <a:ea typeface="Arial" pitchFamily="34" charset="-122"/>
                <a:cs typeface="Arial"/>
              </a:rPr>
              <a:t>2) Practical: Reproducible </a:t>
            </a:r>
            <a:r>
              <a:rPr lang="en-US" sz="1200" dirty="0" err="1">
                <a:solidFill>
                  <a:srgbClr val="F8FAFC"/>
                </a:solidFill>
                <a:latin typeface="Arial"/>
                <a:ea typeface="Arial" pitchFamily="34" charset="-122"/>
                <a:cs typeface="Arial"/>
              </a:rPr>
              <a:t>solver→emulator</a:t>
            </a:r>
            <a:r>
              <a:rPr lang="en-US" sz="1200" dirty="0">
                <a:solidFill>
                  <a:srgbClr val="F8FAFC"/>
                </a:solidFill>
                <a:latin typeface="Arial"/>
                <a:ea typeface="Arial" pitchFamily="34" charset="-122"/>
                <a:cs typeface="Arial"/>
              </a:rPr>
              <a:t> suite + open dataset &amp; configs.</a:t>
            </a:r>
            <a:endParaRPr lang="en-US" sz="1200" dirty="0">
              <a:latin typeface="Arial"/>
              <a:ea typeface="Calibri"/>
              <a:cs typeface="Arial"/>
            </a:endParaRPr>
          </a:p>
          <a:p>
            <a:pPr marL="0" indent="0">
              <a:buNone/>
            </a:pPr>
            <a:endParaRPr lang="en-US" sz="1200" dirty="0">
              <a:ea typeface="Calibri"/>
              <a:cs typeface="Calibri"/>
            </a:endParaRPr>
          </a:p>
          <a:p>
            <a:pPr marL="0" indent="0">
              <a:buNone/>
            </a:pPr>
            <a:r>
              <a:rPr lang="en-US" sz="1200" dirty="0">
                <a:solidFill>
                  <a:srgbClr val="F8FAFC"/>
                </a:solidFill>
                <a:latin typeface="Arial"/>
                <a:ea typeface="Arial" pitchFamily="34" charset="-122"/>
                <a:cs typeface="Arial"/>
              </a:rPr>
              <a:t>3) Policy: Operator selection matrix tying topologies to method-choice guidance.</a:t>
            </a:r>
            <a:endParaRPr lang="en-US" sz="1200" dirty="0">
              <a:latin typeface="Arial"/>
              <a:cs typeface="Arial"/>
            </a:endParaRPr>
          </a:p>
        </p:txBody>
      </p:sp>
      <p:sp>
        <p:nvSpPr>
          <p:cNvPr id="8" name="Shape 6"/>
          <p:cNvSpPr/>
          <p:nvPr/>
        </p:nvSpPr>
        <p:spPr>
          <a:xfrm>
            <a:off x="4713514" y="1918062"/>
            <a:ext cx="4242163" cy="2569030"/>
          </a:xfrm>
          <a:prstGeom prst="rect">
            <a:avLst/>
          </a:prstGeom>
          <a:solidFill>
            <a:srgbClr val="1E293B"/>
          </a:solidFill>
          <a:ln w="25400">
            <a:solidFill>
              <a:srgbClr val="F59E0B"/>
            </a:solidFill>
            <a:prstDash val="solid"/>
          </a:ln>
        </p:spPr>
      </p:sp>
      <p:sp>
        <p:nvSpPr>
          <p:cNvPr id="9" name="Text 7"/>
          <p:cNvSpPr/>
          <p:nvPr/>
        </p:nvSpPr>
        <p:spPr>
          <a:xfrm>
            <a:off x="5250906" y="1920240"/>
            <a:ext cx="4754880" cy="365760"/>
          </a:xfrm>
          <a:prstGeom prst="rect">
            <a:avLst/>
          </a:prstGeom>
          <a:noFill/>
          <a:ln/>
        </p:spPr>
        <p:txBody>
          <a:bodyPr wrap="square" rtlCol="0" anchor="ctr"/>
          <a:lstStyle/>
          <a:p>
            <a:pPr marL="0" indent="0">
              <a:buNone/>
            </a:pPr>
            <a:r>
              <a:rPr lang="en-US" sz="1200" b="1" dirty="0">
                <a:solidFill>
                  <a:srgbClr val="F59E0B"/>
                </a:solidFill>
                <a:latin typeface="Arial" pitchFamily="34" charset="0"/>
                <a:ea typeface="Arial" pitchFamily="34" charset="-122"/>
                <a:cs typeface="Arial" pitchFamily="34" charset="-120"/>
              </a:rPr>
              <a:t>EVIDENCE BADGES &amp; REQUISITES</a:t>
            </a:r>
            <a:endParaRPr lang="en-US" sz="1200" dirty="0"/>
          </a:p>
        </p:txBody>
      </p:sp>
      <p:sp>
        <p:nvSpPr>
          <p:cNvPr id="10" name="Text 8"/>
          <p:cNvSpPr/>
          <p:nvPr/>
        </p:nvSpPr>
        <p:spPr>
          <a:xfrm>
            <a:off x="4715691" y="2106022"/>
            <a:ext cx="3974739" cy="2389416"/>
          </a:xfrm>
          <a:prstGeom prst="rect">
            <a:avLst/>
          </a:prstGeom>
          <a:noFill/>
          <a:ln/>
        </p:spPr>
        <p:txBody>
          <a:bodyPr wrap="square" rtlCol="0" anchor="ctr"/>
          <a:lstStyle/>
          <a:p>
            <a:pPr marL="0" indent="0">
              <a:buNone/>
            </a:pPr>
            <a:r>
              <a:rPr lang="en-US" sz="1000" dirty="0">
                <a:solidFill>
                  <a:srgbClr val="F8FAFC"/>
                </a:solidFill>
                <a:latin typeface="Courier New" pitchFamily="34" charset="0"/>
                <a:ea typeface="Courier New" pitchFamily="34" charset="-122"/>
                <a:cs typeface="Courier New" pitchFamily="34" charset="-120"/>
              </a:rPr>
              <a:t>• config-driven foundation: `experiment_config.json` defining seed 42 structures.</a:t>
            </a:r>
            <a:endParaRPr lang="en-US" sz="1000" dirty="0"/>
          </a:p>
          <a:p>
            <a:pPr marL="0" indent="0">
              <a:buNone/>
            </a:pPr>
            <a:endParaRPr lang="en-US" sz="1000" dirty="0"/>
          </a:p>
          <a:p>
            <a:pPr marL="0" indent="0">
              <a:buNone/>
            </a:pPr>
            <a:r>
              <a:rPr lang="en-US" sz="1000" dirty="0">
                <a:solidFill>
                  <a:srgbClr val="F8FAFC"/>
                </a:solidFill>
                <a:latin typeface="Courier New" pitchFamily="34" charset="0"/>
                <a:ea typeface="Courier New" pitchFamily="34" charset="-122"/>
                <a:cs typeface="Courier New" pitchFamily="34" charset="-120"/>
              </a:rPr>
              <a:t>• metrics validated: `pilot_metrics.json` carrying converged DQN rewards.</a:t>
            </a:r>
            <a:endParaRPr lang="en-US" sz="1000" dirty="0"/>
          </a:p>
          <a:p>
            <a:pPr marL="0" indent="0">
              <a:buNone/>
            </a:pPr>
            <a:endParaRPr lang="en-US" sz="1000" dirty="0"/>
          </a:p>
          <a:p>
            <a:pPr marL="0" indent="0">
              <a:buNone/>
            </a:pPr>
            <a:r>
              <a:rPr lang="en-US" sz="1000" dirty="0">
                <a:solidFill>
                  <a:srgbClr val="F8FAFC"/>
                </a:solidFill>
                <a:latin typeface="Courier New" pitchFamily="34" charset="0"/>
                <a:ea typeface="Courier New" pitchFamily="34" charset="-122"/>
                <a:cs typeface="Courier New" pitchFamily="34" charset="-120"/>
              </a:rPr>
              <a:t>• shortlisted pareto: `pareto_shortlist.json` exporting non-dominated vectors.</a:t>
            </a:r>
            <a:endParaRPr lang="en-US" sz="1000" dirty="0"/>
          </a:p>
          <a:p>
            <a:pPr marL="0" indent="0">
              <a:buNone/>
            </a:pPr>
            <a:endParaRPr lang="en-US" sz="1000" dirty="0"/>
          </a:p>
          <a:p>
            <a:pPr marL="0" indent="0">
              <a:buNone/>
            </a:pPr>
            <a:r>
              <a:rPr lang="en-US" sz="1000" dirty="0">
                <a:solidFill>
                  <a:srgbClr val="F8FAFC"/>
                </a:solidFill>
                <a:latin typeface="Courier New" pitchFamily="34" charset="0"/>
                <a:ea typeface="Courier New" pitchFamily="34" charset="-122"/>
                <a:cs typeface="Courier New" pitchFamily="34" charset="-120"/>
              </a:rPr>
              <a:t>• Ensures full reproducibility across downstream examiners.</a:t>
            </a:r>
            <a:endParaRPr lang="en-US" sz="1000" dirty="0"/>
          </a:p>
        </p:txBody>
      </p:sp>
      <p:sp>
        <p:nvSpPr>
          <p:cNvPr id="11" name="Text 9"/>
          <p:cNvSpPr/>
          <p:nvPr/>
        </p:nvSpPr>
        <p:spPr>
          <a:xfrm>
            <a:off x="457200" y="5669280"/>
            <a:ext cx="11247120" cy="457200"/>
          </a:xfrm>
          <a:prstGeom prst="rect">
            <a:avLst/>
          </a:prstGeom>
          <a:noFill/>
          <a:ln/>
        </p:spPr>
        <p:txBody>
          <a:bodyPr wrap="square" rtlCol="0" anchor="ctr"/>
          <a:lstStyle/>
          <a:p>
            <a:pPr marL="0" indent="0">
              <a:buNone/>
            </a:pPr>
            <a:r>
              <a:rPr lang="en-US" sz="1000" i="1" dirty="0">
                <a:solidFill>
                  <a:srgbClr val="F59E0B"/>
                </a:solidFill>
                <a:latin typeface="Arial" pitchFamily="34" charset="0"/>
                <a:ea typeface="Arial" pitchFamily="34" charset="-122"/>
                <a:cs typeface="Arial" pitchFamily="34" charset="-120"/>
              </a:rPr>
              <a:t>SO WHAT? This study bridges theoretical model logic into reproducible industrial blueprints.</a:t>
            </a:r>
            <a:endParaRPr lang="en-US" sz="1000" dirty="0"/>
          </a:p>
        </p:txBody>
      </p:sp>
      <p:sp>
        <p:nvSpPr>
          <p:cNvPr id="12" name="Text 10"/>
          <p:cNvSpPr/>
          <p:nvPr/>
        </p:nvSpPr>
        <p:spPr>
          <a:xfrm>
            <a:off x="8686800" y="365760"/>
            <a:ext cx="3017520" cy="274320"/>
          </a:xfrm>
          <a:prstGeom prst="rect">
            <a:avLst/>
          </a:prstGeom>
          <a:noFill/>
          <a:ln/>
        </p:spPr>
        <p:txBody>
          <a:bodyPr wrap="square" rtlCol="0" anchor="ctr"/>
          <a:lstStyle/>
          <a:p>
            <a:pPr marL="0" indent="0" algn="r">
              <a:buNone/>
            </a:pPr>
            <a:r>
              <a:rPr lang="en-US" sz="900" b="1" dirty="0">
                <a:solidFill>
                  <a:srgbClr val="F59E0B"/>
                </a:solidFill>
                <a:latin typeface="Courier New" pitchFamily="34" charset="0"/>
                <a:ea typeface="Courier New" pitchFamily="34" charset="-122"/>
                <a:cs typeface="Courier New" pitchFamily="34" charset="-120"/>
              </a:rPr>
              <a:t>Target Duration: 1:00</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457200" y="365760"/>
            <a:ext cx="11247120" cy="274320"/>
          </a:xfrm>
          <a:prstGeom prst="rect">
            <a:avLst/>
          </a:prstGeom>
          <a:noFill/>
          <a:ln/>
        </p:spPr>
        <p:txBody>
          <a:bodyPr wrap="square" rtlCol="0" anchor="ctr"/>
          <a:lstStyle/>
          <a:p>
            <a:pPr marL="0" indent="0">
              <a:buNone/>
            </a:pPr>
            <a:r>
              <a:rPr lang="en-US" sz="1000" b="1" dirty="0">
                <a:solidFill>
                  <a:srgbClr val="2DD4BF"/>
                </a:solidFill>
                <a:latin typeface="Arial" pitchFamily="34" charset="0"/>
                <a:ea typeface="Arial" pitchFamily="34" charset="-122"/>
                <a:cs typeface="Arial" pitchFamily="34" charset="-120"/>
              </a:rPr>
              <a:t>TECHNICAL CONSTRAINTS &amp; ENGAGEMENT RISKS • SYSTEM BOUNDARIES</a:t>
            </a:r>
            <a:endParaRPr lang="en-US" sz="1000" dirty="0"/>
          </a:p>
        </p:txBody>
      </p:sp>
      <p:sp>
        <p:nvSpPr>
          <p:cNvPr id="3" name="Text 1"/>
          <p:cNvSpPr/>
          <p:nvPr/>
        </p:nvSpPr>
        <p:spPr>
          <a:xfrm>
            <a:off x="457200" y="640080"/>
            <a:ext cx="11247120" cy="365760"/>
          </a:xfrm>
          <a:prstGeom prst="rect">
            <a:avLst/>
          </a:prstGeom>
          <a:noFill/>
          <a:ln/>
        </p:spPr>
        <p:txBody>
          <a:bodyPr wrap="square" rtlCol="0" anchor="ctr"/>
          <a:lstStyle/>
          <a:p>
            <a:pPr marL="0" indent="0">
              <a:buNone/>
            </a:pPr>
            <a:r>
              <a:rPr lang="en-US" sz="2000" b="1" dirty="0">
                <a:solidFill>
                  <a:srgbClr val="F8FAFC"/>
                </a:solidFill>
                <a:latin typeface="Helvetica" pitchFamily="34" charset="0"/>
                <a:ea typeface="Helvetica" pitchFamily="34" charset="-122"/>
                <a:cs typeface="Helvetica" pitchFamily="34" charset="-120"/>
              </a:rPr>
              <a:t>Engineering Risks, Constraints &amp; Mitigations</a:t>
            </a:r>
            <a:endParaRPr lang="en-US" sz="2000" dirty="0"/>
          </a:p>
        </p:txBody>
      </p:sp>
      <p:sp>
        <p:nvSpPr>
          <p:cNvPr id="4" name="Text 2"/>
          <p:cNvSpPr/>
          <p:nvPr/>
        </p:nvSpPr>
        <p:spPr>
          <a:xfrm>
            <a:off x="457200" y="1051560"/>
            <a:ext cx="11247120" cy="411480"/>
          </a:xfrm>
          <a:prstGeom prst="rect">
            <a:avLst/>
          </a:prstGeom>
          <a:noFill/>
          <a:ln/>
        </p:spPr>
        <p:txBody>
          <a:bodyPr wrap="square" rtlCol="0" anchor="ctr"/>
          <a:lstStyle/>
          <a:p>
            <a:pPr marL="0" indent="0">
              <a:buNone/>
            </a:pPr>
            <a:r>
              <a:rPr lang="en-US" sz="1100" dirty="0">
                <a:solidFill>
                  <a:srgbClr val="94A3B8"/>
                </a:solidFill>
                <a:latin typeface="Arial" pitchFamily="34" charset="0"/>
                <a:ea typeface="Arial" pitchFamily="34" charset="-122"/>
                <a:cs typeface="Arial" pitchFamily="34" charset="-120"/>
              </a:rPr>
              <a:t>Ensuring Evaluation Rigor and Statistical Robustness</a:t>
            </a:r>
            <a:endParaRPr lang="en-US" sz="1100" dirty="0"/>
          </a:p>
        </p:txBody>
      </p:sp>
      <p:sp>
        <p:nvSpPr>
          <p:cNvPr id="5" name="Shape 3"/>
          <p:cNvSpPr/>
          <p:nvPr/>
        </p:nvSpPr>
        <p:spPr>
          <a:xfrm>
            <a:off x="457200" y="1709418"/>
            <a:ext cx="4106091" cy="2197104"/>
          </a:xfrm>
          <a:prstGeom prst="rect">
            <a:avLst/>
          </a:prstGeom>
          <a:solidFill>
            <a:srgbClr val="1E293B"/>
          </a:solidFill>
          <a:ln w="25400">
            <a:solidFill>
              <a:srgbClr val="EF4444"/>
            </a:solidFill>
            <a:prstDash val="solid"/>
          </a:ln>
        </p:spPr>
      </p:sp>
      <p:sp>
        <p:nvSpPr>
          <p:cNvPr id="6" name="Text 4"/>
          <p:cNvSpPr/>
          <p:nvPr/>
        </p:nvSpPr>
        <p:spPr>
          <a:xfrm>
            <a:off x="459377" y="1738811"/>
            <a:ext cx="4754880" cy="365760"/>
          </a:xfrm>
          <a:prstGeom prst="rect">
            <a:avLst/>
          </a:prstGeom>
          <a:noFill/>
          <a:ln/>
        </p:spPr>
        <p:txBody>
          <a:bodyPr wrap="square" rtlCol="0" anchor="ctr"/>
          <a:lstStyle/>
          <a:p>
            <a:pPr marL="0" indent="0">
              <a:buNone/>
            </a:pPr>
            <a:r>
              <a:rPr lang="en-US" sz="1200" b="1" dirty="0">
                <a:solidFill>
                  <a:srgbClr val="EF4444"/>
                </a:solidFill>
                <a:latin typeface="Arial" pitchFamily="34" charset="0"/>
                <a:ea typeface="Arial" pitchFamily="34" charset="-122"/>
                <a:cs typeface="Arial" pitchFamily="34" charset="-120"/>
              </a:rPr>
              <a:t>IDENTIFIED NETWORKING AND RESOURCE RISKS</a:t>
            </a:r>
            <a:endParaRPr lang="en-US" sz="1200" dirty="0"/>
          </a:p>
        </p:txBody>
      </p:sp>
      <p:sp>
        <p:nvSpPr>
          <p:cNvPr id="7" name="Text 5"/>
          <p:cNvSpPr/>
          <p:nvPr/>
        </p:nvSpPr>
        <p:spPr>
          <a:xfrm>
            <a:off x="459377" y="1461953"/>
            <a:ext cx="4110809" cy="2652485"/>
          </a:xfrm>
          <a:prstGeom prst="rect">
            <a:avLst/>
          </a:prstGeom>
          <a:noFill/>
          <a:ln/>
        </p:spPr>
        <p:txBody>
          <a:bodyPr wrap="square" lIns="91440" tIns="45720" rIns="91440" bIns="45720" rtlCol="0" anchor="ctr"/>
          <a:lstStyle/>
          <a:p>
            <a:pPr marL="0" indent="0">
              <a:buNone/>
            </a:pPr>
            <a:r>
              <a:rPr lang="en-US" sz="1200" dirty="0">
                <a:solidFill>
                  <a:srgbClr val="F8FAFC"/>
                </a:solidFill>
                <a:latin typeface="Arial"/>
                <a:ea typeface="Arial" pitchFamily="34" charset="-122"/>
                <a:cs typeface="Arial"/>
              </a:rPr>
              <a:t>• Namespace scheduling jitter: Linux kernel thread competition on single servers introduces predictable RTT overhead loops.</a:t>
            </a:r>
            <a:endParaRPr lang="en-US" sz="1200" dirty="0">
              <a:latin typeface="Arial"/>
              <a:ea typeface="Calibri"/>
              <a:cs typeface="Arial"/>
            </a:endParaRPr>
          </a:p>
          <a:p>
            <a:pPr marL="0" indent="0">
              <a:buNone/>
            </a:pPr>
            <a:endParaRPr lang="en-US" sz="1200" dirty="0">
              <a:ea typeface="Calibri"/>
              <a:cs typeface="Calibri"/>
            </a:endParaRPr>
          </a:p>
          <a:p>
            <a:pPr marL="0" indent="0">
              <a:buNone/>
            </a:pPr>
            <a:r>
              <a:rPr lang="en-US" sz="1200" dirty="0">
                <a:solidFill>
                  <a:srgbClr val="F8FAFC"/>
                </a:solidFill>
                <a:latin typeface="Arial"/>
                <a:ea typeface="Arial" pitchFamily="34" charset="-122"/>
                <a:cs typeface="Arial"/>
              </a:rPr>
              <a:t>• Scale Barriers: Dense topologies like ATT-MPLS (N=25) risk state space explosions during solver runs.</a:t>
            </a:r>
            <a:endParaRPr lang="en-US" sz="1200" dirty="0">
              <a:latin typeface="Arial"/>
              <a:cs typeface="Arial"/>
            </a:endParaRPr>
          </a:p>
        </p:txBody>
      </p:sp>
      <p:sp>
        <p:nvSpPr>
          <p:cNvPr id="8" name="Shape 6"/>
          <p:cNvSpPr/>
          <p:nvPr/>
        </p:nvSpPr>
        <p:spPr>
          <a:xfrm>
            <a:off x="4695371" y="1645919"/>
            <a:ext cx="4351020" cy="2296887"/>
          </a:xfrm>
          <a:prstGeom prst="rect">
            <a:avLst/>
          </a:prstGeom>
          <a:solidFill>
            <a:srgbClr val="1E293B"/>
          </a:solidFill>
          <a:ln w="25400">
            <a:solidFill>
              <a:srgbClr val="2DD4BF"/>
            </a:solidFill>
            <a:prstDash val="solid"/>
          </a:ln>
        </p:spPr>
      </p:sp>
      <p:sp>
        <p:nvSpPr>
          <p:cNvPr id="9" name="Text 7"/>
          <p:cNvSpPr/>
          <p:nvPr/>
        </p:nvSpPr>
        <p:spPr>
          <a:xfrm>
            <a:off x="4851763" y="1738811"/>
            <a:ext cx="4754880" cy="365760"/>
          </a:xfrm>
          <a:prstGeom prst="rect">
            <a:avLst/>
          </a:prstGeom>
          <a:noFill/>
          <a:ln/>
        </p:spPr>
        <p:txBody>
          <a:bodyPr wrap="square" rtlCol="0" anchor="ctr"/>
          <a:lstStyle/>
          <a:p>
            <a:pPr marL="0" indent="0">
              <a:buNone/>
            </a:pPr>
            <a:r>
              <a:rPr lang="en-US" sz="1200" b="1" dirty="0">
                <a:solidFill>
                  <a:srgbClr val="2DD4BF"/>
                </a:solidFill>
                <a:latin typeface="Arial" pitchFamily="34" charset="0"/>
                <a:ea typeface="Arial" pitchFamily="34" charset="-122"/>
                <a:cs typeface="Arial" pitchFamily="34" charset="-120"/>
              </a:rPr>
              <a:t>ACTIVE TECHNICAL MITIGATIONS IN PRACTICE</a:t>
            </a:r>
            <a:endParaRPr lang="en-US" sz="1200" dirty="0"/>
          </a:p>
        </p:txBody>
      </p:sp>
      <p:sp>
        <p:nvSpPr>
          <p:cNvPr id="10" name="Text 8"/>
          <p:cNvSpPr/>
          <p:nvPr/>
        </p:nvSpPr>
        <p:spPr>
          <a:xfrm>
            <a:off x="4969691" y="1924595"/>
            <a:ext cx="4074523" cy="2162629"/>
          </a:xfrm>
          <a:prstGeom prst="rect">
            <a:avLst/>
          </a:prstGeom>
          <a:noFill/>
          <a:ln/>
        </p:spPr>
        <p:txBody>
          <a:bodyPr wrap="square" lIns="91440" tIns="45720" rIns="91440" bIns="45720" rtlCol="0" anchor="ctr"/>
          <a:lstStyle/>
          <a:p>
            <a:pPr marL="0" indent="0">
              <a:buNone/>
            </a:pPr>
            <a:r>
              <a:rPr lang="en-US" sz="1200" dirty="0">
                <a:solidFill>
                  <a:srgbClr val="F8FAFC"/>
                </a:solidFill>
                <a:latin typeface="Arial"/>
                <a:ea typeface="Arial" pitchFamily="34" charset="-122"/>
                <a:cs typeface="Arial"/>
              </a:rPr>
              <a:t>• CPU Core Pinning: We pin dedicated logical cores and lock seed 42 to completely override host performance drift noise.</a:t>
            </a:r>
            <a:endParaRPr lang="en-US" sz="1200" dirty="0">
              <a:latin typeface="Arial"/>
              <a:ea typeface="Calibri"/>
              <a:cs typeface="Arial"/>
            </a:endParaRPr>
          </a:p>
          <a:p>
            <a:pPr marL="0" indent="0">
              <a:buNone/>
            </a:pPr>
            <a:endParaRPr lang="en-US" sz="1200" dirty="0">
              <a:ea typeface="Calibri"/>
              <a:cs typeface="Calibri"/>
            </a:endParaRPr>
          </a:p>
          <a:p>
            <a:pPr marL="0" indent="0">
              <a:buNone/>
            </a:pPr>
            <a:r>
              <a:rPr lang="en-US" sz="1200" dirty="0">
                <a:solidFill>
                  <a:srgbClr val="F8FAFC"/>
                </a:solidFill>
                <a:latin typeface="Arial"/>
                <a:ea typeface="Arial" pitchFamily="34" charset="-122"/>
                <a:cs typeface="Arial"/>
              </a:rPr>
              <a:t>• Hierarchical Nested Clustering: Solves scale explosion limits by introducing nested zoning segments.</a:t>
            </a:r>
            <a:endParaRPr lang="en-US" sz="1200" dirty="0">
              <a:latin typeface="Arial"/>
              <a:ea typeface="Calibri"/>
              <a:cs typeface="Arial"/>
            </a:endParaRPr>
          </a:p>
          <a:p>
            <a:pPr marL="0" indent="0">
              <a:buNone/>
            </a:pPr>
            <a:endParaRPr lang="en-US" sz="1200" dirty="0">
              <a:ea typeface="Calibri"/>
              <a:cs typeface="Calibri"/>
            </a:endParaRPr>
          </a:p>
          <a:p>
            <a:pPr marL="0" indent="0">
              <a:buNone/>
            </a:pPr>
            <a:r>
              <a:rPr lang="en-US" sz="1200" dirty="0">
                <a:solidFill>
                  <a:srgbClr val="F8FAFC"/>
                </a:solidFill>
                <a:latin typeface="Arial"/>
                <a:ea typeface="Arial" pitchFamily="34" charset="-122"/>
                <a:cs typeface="Arial"/>
              </a:rPr>
              <a:t>• Progressive Replay Buffers: Guarantees converging policy steps under DQN runs.</a:t>
            </a:r>
            <a:endParaRPr lang="en-US" sz="1200" dirty="0">
              <a:latin typeface="Arial"/>
              <a:cs typeface="Arial"/>
            </a:endParaRPr>
          </a:p>
        </p:txBody>
      </p:sp>
      <p:sp>
        <p:nvSpPr>
          <p:cNvPr id="11" name="Text 9"/>
          <p:cNvSpPr/>
          <p:nvPr/>
        </p:nvSpPr>
        <p:spPr>
          <a:xfrm>
            <a:off x="457200" y="5486400"/>
            <a:ext cx="11247120" cy="365760"/>
          </a:xfrm>
          <a:prstGeom prst="rect">
            <a:avLst/>
          </a:prstGeom>
          <a:noFill/>
          <a:ln/>
        </p:spPr>
        <p:txBody>
          <a:bodyPr wrap="square" rtlCol="0" anchor="ctr"/>
          <a:lstStyle/>
          <a:p>
            <a:pPr marL="0" indent="0">
              <a:buNone/>
            </a:pPr>
            <a:r>
              <a:rPr lang="en-US" sz="1000" i="1" dirty="0">
                <a:solidFill>
                  <a:srgbClr val="F59E0B"/>
                </a:solidFill>
                <a:latin typeface="Arial" pitchFamily="34" charset="0"/>
                <a:ea typeface="Arial" pitchFamily="34" charset="-122"/>
                <a:cs typeface="Arial" pitchFamily="34" charset="-120"/>
              </a:rPr>
              <a:t>SO WHAT? Explicit boundary disclosures guarantee academic validation and project credibility.</a:t>
            </a:r>
            <a:endParaRPr lang="en-US" sz="1000" dirty="0"/>
          </a:p>
        </p:txBody>
      </p:sp>
      <p:sp>
        <p:nvSpPr>
          <p:cNvPr id="12" name="Text 10"/>
          <p:cNvSpPr/>
          <p:nvPr/>
        </p:nvSpPr>
        <p:spPr>
          <a:xfrm>
            <a:off x="8686800" y="365760"/>
            <a:ext cx="3017520" cy="274320"/>
          </a:xfrm>
          <a:prstGeom prst="rect">
            <a:avLst/>
          </a:prstGeom>
          <a:noFill/>
          <a:ln/>
        </p:spPr>
        <p:txBody>
          <a:bodyPr wrap="square" rtlCol="0" anchor="ctr"/>
          <a:lstStyle/>
          <a:p>
            <a:pPr marL="0" indent="0" algn="r">
              <a:buNone/>
            </a:pPr>
            <a:r>
              <a:rPr lang="en-US" sz="900" b="1" dirty="0">
                <a:solidFill>
                  <a:srgbClr val="F59E0B"/>
                </a:solidFill>
                <a:latin typeface="Courier New" pitchFamily="34" charset="0"/>
                <a:ea typeface="Courier New" pitchFamily="34" charset="-122"/>
                <a:cs typeface="Courier New" pitchFamily="34" charset="-120"/>
              </a:rPr>
              <a:t>Target Duration: 0:40</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457200" y="365760"/>
            <a:ext cx="11247120" cy="274320"/>
          </a:xfrm>
          <a:prstGeom prst="rect">
            <a:avLst/>
          </a:prstGeom>
          <a:noFill/>
          <a:ln/>
        </p:spPr>
        <p:txBody>
          <a:bodyPr wrap="square" lIns="91440" tIns="45720" rIns="91440" bIns="45720" rtlCol="0" anchor="ctr"/>
          <a:lstStyle/>
          <a:p>
            <a:pPr marL="0" indent="0">
              <a:buNone/>
            </a:pPr>
            <a:r>
              <a:rPr lang="en-US" sz="1200" b="1" dirty="0">
                <a:solidFill>
                  <a:srgbClr val="2DD4BF"/>
                </a:solidFill>
                <a:latin typeface="Arial"/>
                <a:ea typeface="Arial" pitchFamily="34" charset="-122"/>
                <a:cs typeface="Arial"/>
              </a:rPr>
              <a:t>STRATEGIC TIMELINE &amp; CLOSE • EXAMINERS BLUEPRINT</a:t>
            </a:r>
            <a:endParaRPr lang="en-US" sz="1200">
              <a:latin typeface="Arial"/>
              <a:ea typeface="Calibri"/>
              <a:cs typeface="Arial"/>
            </a:endParaRPr>
          </a:p>
        </p:txBody>
      </p:sp>
      <p:sp>
        <p:nvSpPr>
          <p:cNvPr id="3" name="Text 1"/>
          <p:cNvSpPr/>
          <p:nvPr/>
        </p:nvSpPr>
        <p:spPr>
          <a:xfrm>
            <a:off x="457200" y="640080"/>
            <a:ext cx="11247120" cy="365760"/>
          </a:xfrm>
          <a:prstGeom prst="rect">
            <a:avLst/>
          </a:prstGeom>
          <a:noFill/>
          <a:ln/>
        </p:spPr>
        <p:txBody>
          <a:bodyPr wrap="square" rtlCol="0" anchor="ctr"/>
          <a:lstStyle/>
          <a:p>
            <a:pPr marL="0" indent="0">
              <a:buNone/>
            </a:pPr>
            <a:r>
              <a:rPr lang="en-US" sz="2000" b="1" dirty="0">
                <a:solidFill>
                  <a:srgbClr val="F8FAFC"/>
                </a:solidFill>
                <a:latin typeface="Helvetica" pitchFamily="34" charset="0"/>
                <a:ea typeface="Helvetica" pitchFamily="34" charset="-122"/>
                <a:cs typeface="Helvetica" pitchFamily="34" charset="-120"/>
              </a:rPr>
              <a:t>Strategic Decision &amp; Deployment Blueprint</a:t>
            </a:r>
            <a:endParaRPr lang="en-US" sz="2000" dirty="0"/>
          </a:p>
        </p:txBody>
      </p:sp>
      <p:sp>
        <p:nvSpPr>
          <p:cNvPr id="4" name="Text 2"/>
          <p:cNvSpPr/>
          <p:nvPr/>
        </p:nvSpPr>
        <p:spPr>
          <a:xfrm>
            <a:off x="457200" y="1051560"/>
            <a:ext cx="11247120" cy="411480"/>
          </a:xfrm>
          <a:prstGeom prst="rect">
            <a:avLst/>
          </a:prstGeom>
          <a:noFill/>
          <a:ln/>
        </p:spPr>
        <p:txBody>
          <a:bodyPr wrap="square" lIns="91440" tIns="45720" rIns="91440" bIns="45720" rtlCol="0" anchor="ctr"/>
          <a:lstStyle/>
          <a:p>
            <a:pPr marL="0" indent="0">
              <a:buNone/>
            </a:pPr>
            <a:r>
              <a:rPr lang="en-US" sz="1200" dirty="0">
                <a:solidFill>
                  <a:srgbClr val="94A3B8"/>
                </a:solidFill>
                <a:latin typeface="Arial"/>
                <a:ea typeface="Arial" pitchFamily="34" charset="-122"/>
                <a:cs typeface="Arial"/>
              </a:rPr>
              <a:t>Examiner Session Request, Deliverables, and Timeline Closure</a:t>
            </a:r>
            <a:endParaRPr lang="en-US" sz="1200">
              <a:latin typeface="Arial"/>
              <a:ea typeface="Calibri"/>
              <a:cs typeface="Arial"/>
            </a:endParaRPr>
          </a:p>
        </p:txBody>
      </p:sp>
      <p:sp>
        <p:nvSpPr>
          <p:cNvPr id="5" name="Shape 3"/>
          <p:cNvSpPr/>
          <p:nvPr/>
        </p:nvSpPr>
        <p:spPr>
          <a:xfrm>
            <a:off x="575128" y="1464491"/>
            <a:ext cx="8090264" cy="3421743"/>
          </a:xfrm>
          <a:prstGeom prst="rect">
            <a:avLst/>
          </a:prstGeom>
          <a:solidFill>
            <a:srgbClr val="1E293B"/>
          </a:solidFill>
          <a:ln w="25400">
            <a:solidFill>
              <a:srgbClr val="2DD4BF"/>
            </a:solidFill>
            <a:prstDash val="solid"/>
          </a:ln>
        </p:spPr>
      </p:sp>
      <p:sp>
        <p:nvSpPr>
          <p:cNvPr id="6" name="Text 4"/>
          <p:cNvSpPr/>
          <p:nvPr/>
        </p:nvSpPr>
        <p:spPr>
          <a:xfrm>
            <a:off x="731520" y="1920240"/>
            <a:ext cx="10698480" cy="365760"/>
          </a:xfrm>
          <a:prstGeom prst="rect">
            <a:avLst/>
          </a:prstGeom>
          <a:noFill/>
          <a:ln/>
        </p:spPr>
        <p:txBody>
          <a:bodyPr wrap="square" rtlCol="0" anchor="ctr"/>
          <a:lstStyle/>
          <a:p>
            <a:pPr marL="0" indent="0">
              <a:buNone/>
            </a:pPr>
            <a:r>
              <a:rPr lang="en-US" sz="1200" b="1" dirty="0">
                <a:solidFill>
                  <a:srgbClr val="F59E0B"/>
                </a:solidFill>
                <a:latin typeface="Arial" pitchFamily="34" charset="0"/>
                <a:ea typeface="Arial" pitchFamily="34" charset="-122"/>
                <a:cs typeface="Arial" pitchFamily="34" charset="-120"/>
              </a:rPr>
              <a:t>PROPOSAL REQUEST AND ETHICS STRATEGY:</a:t>
            </a:r>
            <a:endParaRPr lang="en-US" sz="1200" dirty="0"/>
          </a:p>
        </p:txBody>
      </p:sp>
      <p:sp>
        <p:nvSpPr>
          <p:cNvPr id="7" name="Text 5"/>
          <p:cNvSpPr/>
          <p:nvPr/>
        </p:nvSpPr>
        <p:spPr>
          <a:xfrm>
            <a:off x="731520" y="2106023"/>
            <a:ext cx="7777481" cy="2387962"/>
          </a:xfrm>
          <a:prstGeom prst="rect">
            <a:avLst/>
          </a:prstGeom>
          <a:noFill/>
          <a:ln/>
        </p:spPr>
        <p:txBody>
          <a:bodyPr wrap="square" lIns="91440" tIns="45720" rIns="91440" bIns="45720" rtlCol="0" anchor="ctr"/>
          <a:lstStyle/>
          <a:p>
            <a:pPr marL="0" indent="0">
              <a:buNone/>
            </a:pPr>
            <a:r>
              <a:rPr lang="en-US" sz="1200" dirty="0">
                <a:solidFill>
                  <a:srgbClr val="F8FAFC"/>
                </a:solidFill>
                <a:latin typeface="Arial"/>
                <a:ea typeface="Arial" pitchFamily="34" charset="-122"/>
                <a:cs typeface="Arial"/>
              </a:rPr>
              <a:t>• Request for Approval: Request authorization to launch full 50,000 algorithmic epochs over institutional network fabrics.</a:t>
            </a:r>
            <a:endParaRPr lang="en-US" sz="1200" dirty="0">
              <a:latin typeface="Arial"/>
              <a:ea typeface="Calibri"/>
              <a:cs typeface="Arial"/>
            </a:endParaRPr>
          </a:p>
          <a:p>
            <a:pPr marL="0" indent="0">
              <a:buNone/>
            </a:pPr>
            <a:endParaRPr lang="en-US" sz="1200" dirty="0">
              <a:ea typeface="Calibri"/>
              <a:cs typeface="Calibri"/>
            </a:endParaRPr>
          </a:p>
          <a:p>
            <a:pPr marL="0" indent="0">
              <a:buNone/>
            </a:pPr>
            <a:r>
              <a:rPr lang="en-US" sz="1200" dirty="0">
                <a:solidFill>
                  <a:srgbClr val="F8FAFC"/>
                </a:solidFill>
                <a:latin typeface="Arial"/>
                <a:ea typeface="Arial" pitchFamily="34" charset="-122"/>
                <a:cs typeface="Arial"/>
              </a:rPr>
              <a:t>• Ethics Alignment: Zero privacy data constraints involved; simple software kernel performance sweep metrics apply.</a:t>
            </a:r>
            <a:endParaRPr lang="en-US" sz="1200" dirty="0">
              <a:latin typeface="Arial"/>
              <a:ea typeface="Calibri"/>
              <a:cs typeface="Arial"/>
            </a:endParaRPr>
          </a:p>
          <a:p>
            <a:pPr marL="0" indent="0">
              <a:buNone/>
            </a:pPr>
            <a:endParaRPr lang="en-US" sz="1200" dirty="0">
              <a:ea typeface="Calibri"/>
              <a:cs typeface="Calibri"/>
            </a:endParaRPr>
          </a:p>
          <a:p>
            <a:pPr marL="0" indent="0">
              <a:buNone/>
            </a:pPr>
            <a:r>
              <a:rPr lang="en-US" sz="1200" dirty="0">
                <a:solidFill>
                  <a:srgbClr val="F8FAFC"/>
                </a:solidFill>
                <a:latin typeface="Arial"/>
                <a:ea typeface="Arial" pitchFamily="34" charset="-122"/>
                <a:cs typeface="Arial"/>
              </a:rPr>
              <a:t>• Core Pledged Outputs: Academic Hons Thesis, completely open source Git repository carrying configuration engines, and validated results data vectors.</a:t>
            </a:r>
            <a:endParaRPr lang="en-US" sz="1200" dirty="0">
              <a:latin typeface="Arial"/>
              <a:ea typeface="Calibri"/>
              <a:cs typeface="Arial"/>
            </a:endParaRPr>
          </a:p>
          <a:p>
            <a:pPr marL="0" indent="0">
              <a:buNone/>
            </a:pPr>
            <a:endParaRPr lang="en-US" sz="1200" dirty="0">
              <a:ea typeface="Calibri"/>
              <a:cs typeface="Calibri"/>
            </a:endParaRPr>
          </a:p>
          <a:p>
            <a:pPr marL="0" indent="0">
              <a:buNone/>
            </a:pPr>
            <a:r>
              <a:rPr lang="en-US" sz="1200" dirty="0">
                <a:solidFill>
                  <a:srgbClr val="F8FAFC"/>
                </a:solidFill>
                <a:latin typeface="Arial"/>
                <a:ea typeface="Arial" pitchFamily="34" charset="-122"/>
                <a:cs typeface="Arial"/>
              </a:rPr>
              <a:t>• Strategy Timeline: Complete emulator tests by Month 6, draft synthesis by Month 7, and final academic defense by Month 8.</a:t>
            </a:r>
            <a:endParaRPr lang="en-US" sz="1200" dirty="0">
              <a:latin typeface="Arial"/>
              <a:cs typeface="Arial"/>
            </a:endParaRPr>
          </a:p>
        </p:txBody>
      </p:sp>
      <p:sp>
        <p:nvSpPr>
          <p:cNvPr id="8" name="Text 6"/>
          <p:cNvSpPr/>
          <p:nvPr/>
        </p:nvSpPr>
        <p:spPr>
          <a:xfrm>
            <a:off x="457200" y="5486400"/>
            <a:ext cx="11247120" cy="365760"/>
          </a:xfrm>
          <a:prstGeom prst="rect">
            <a:avLst/>
          </a:prstGeom>
          <a:noFill/>
          <a:ln/>
        </p:spPr>
        <p:txBody>
          <a:bodyPr wrap="square" rtlCol="0" anchor="ctr"/>
          <a:lstStyle/>
          <a:p>
            <a:pPr marL="0" indent="0">
              <a:buNone/>
            </a:pPr>
            <a:r>
              <a:rPr lang="en-US" sz="1000" i="1" dirty="0">
                <a:solidFill>
                  <a:srgbClr val="F59E0B"/>
                </a:solidFill>
                <a:latin typeface="Arial" pitchFamily="34" charset="0"/>
                <a:ea typeface="Arial" pitchFamily="34" charset="-122"/>
                <a:cs typeface="Arial" pitchFamily="34" charset="-120"/>
              </a:rPr>
              <a:t>SO WHAT? Pilot convergence proves feasibility. Respectfully request authorization to proceed.</a:t>
            </a:r>
            <a:endParaRPr lang="en-US" sz="1000" dirty="0"/>
          </a:p>
        </p:txBody>
      </p:sp>
      <p:sp>
        <p:nvSpPr>
          <p:cNvPr id="9" name="Text 7"/>
          <p:cNvSpPr/>
          <p:nvPr/>
        </p:nvSpPr>
        <p:spPr>
          <a:xfrm>
            <a:off x="5945777" y="365760"/>
            <a:ext cx="3200400" cy="274320"/>
          </a:xfrm>
          <a:prstGeom prst="rect">
            <a:avLst/>
          </a:prstGeom>
          <a:noFill/>
          <a:ln/>
        </p:spPr>
        <p:txBody>
          <a:bodyPr wrap="square" rtlCol="0" anchor="ctr"/>
          <a:lstStyle/>
          <a:p>
            <a:pPr marL="0" indent="0" algn="r">
              <a:buNone/>
            </a:pPr>
            <a:r>
              <a:rPr lang="en-US" sz="900" b="1" dirty="0">
                <a:solidFill>
                  <a:srgbClr val="F59E0B"/>
                </a:solidFill>
                <a:latin typeface="Courier New" pitchFamily="34" charset="0"/>
                <a:ea typeface="Courier New" pitchFamily="34" charset="-122"/>
                <a:cs typeface="Courier New" pitchFamily="34" charset="-120"/>
              </a:rPr>
              <a:t>Target Duration: 0:20 (Total talk timing: 8:00)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273</cp:revision>
  <dcterms:created xsi:type="dcterms:W3CDTF">2026-05-22T16:02:18Z</dcterms:created>
  <dcterms:modified xsi:type="dcterms:W3CDTF">2026-05-22T21:47:42Z</dcterms:modified>
</cp:coreProperties>
</file>